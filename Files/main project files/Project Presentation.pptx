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74" r:id="rId7"/>
    <p:sldId id="263" r:id="rId8"/>
    <p:sldId id="264" r:id="rId9"/>
    <p:sldId id="268" r:id="rId10"/>
    <p:sldId id="272" r:id="rId11"/>
    <p:sldId id="261" r:id="rId12"/>
    <p:sldId id="265" r:id="rId13"/>
    <p:sldId id="266" r:id="rId14"/>
    <p:sldId id="267"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7B67"/>
    <a:srgbClr val="F34A15"/>
    <a:srgbClr val="2A3E84"/>
    <a:srgbClr val="1D1D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3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610C-1CB4-4CA8-9C92-755BC733F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136BA-83D2-460A-909C-EAA4E2BACA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357E06-D446-4FE6-9FDF-867123980E0C}"/>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354857E4-72B0-4D8B-BBEB-EBFFA0C8B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A0599A-E4A9-4D36-8435-A7A85336C123}"/>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350449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B353C-D3F7-447E-9877-29D28066DA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E9176A-78DB-4EBA-8D8F-CB57EB20F20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9EA0C8-AC80-4B64-9B34-44898C0A63F3}"/>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2DF69471-5A1F-409E-B257-6D504C271A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14565-0F96-4AEB-968B-4FC44A1933FE}"/>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840342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239F3-E0A3-40FB-8CD7-74B391C84A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B17D88-5B2A-48EB-9B71-FABC31990A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6C4A24C-A39A-4CA4-8877-3C1E5892561F}"/>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1F807EEB-D536-42DF-880E-169088C47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2D263-772C-4244-AC0E-1CDBD2CCAC3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704411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7AEEB-527E-4310-9847-59E2B01517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AC938-521C-4F32-8587-A5B1578BD77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9F171-55F7-49EB-8944-0C0E4DD830B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114B5-A64A-4474-823A-CC9A0DB5E6D3}"/>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6" name="Footer Placeholder 5">
            <a:extLst>
              <a:ext uri="{FF2B5EF4-FFF2-40B4-BE49-F238E27FC236}">
                <a16:creationId xmlns:a16="http://schemas.microsoft.com/office/drawing/2014/main" id="{652DD429-F702-4FAA-BF70-422876B3DC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2AD20-F3D7-4A02-8160-052552C7D646}"/>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680049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0099-0AE2-4046-8086-2872F846A7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85285A-C9E9-47E6-8A03-B922D58F3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FF24C6E-0103-4966-98B8-FD3C6F6764D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63EFCE-410D-4010-AFFC-62B2D8356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4D1AD3A-5460-4D43-B09B-E50EF788AB0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2FD403-1076-4142-8895-192607F09439}"/>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8" name="Footer Placeholder 7">
            <a:extLst>
              <a:ext uri="{FF2B5EF4-FFF2-40B4-BE49-F238E27FC236}">
                <a16:creationId xmlns:a16="http://schemas.microsoft.com/office/drawing/2014/main" id="{4BDF1412-08C5-4994-BA44-69F01D5A7E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7335DB-D055-4B80-8417-9C575664B251}"/>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337070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07B11-0365-494B-89A3-912FE17165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0B3EC3-5339-4E0C-A325-00EBBBFB7D98}"/>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4" name="Footer Placeholder 3">
            <a:extLst>
              <a:ext uri="{FF2B5EF4-FFF2-40B4-BE49-F238E27FC236}">
                <a16:creationId xmlns:a16="http://schemas.microsoft.com/office/drawing/2014/main" id="{C2ACB521-BE0F-448B-9C89-427CBD7D8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541E32-00D7-4061-A281-51F6527BB9D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04118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387AF1-8D1A-464E-BFAB-CC8132192AA5}"/>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3" name="Footer Placeholder 2">
            <a:extLst>
              <a:ext uri="{FF2B5EF4-FFF2-40B4-BE49-F238E27FC236}">
                <a16:creationId xmlns:a16="http://schemas.microsoft.com/office/drawing/2014/main" id="{5FBC81E5-1443-4D1A-B418-A6AB487E16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0587CD-B781-4B71-83EB-43CF1F7369F2}"/>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361592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1AD8-3093-4756-B599-1F0679278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2CB4DC-4CC9-441B-B0E1-E332BEF26C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A06FCB-4409-45B9-B589-EA166D249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0539585-63B7-4A8B-8A3B-651AB5A713FC}"/>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6" name="Footer Placeholder 5">
            <a:extLst>
              <a:ext uri="{FF2B5EF4-FFF2-40B4-BE49-F238E27FC236}">
                <a16:creationId xmlns:a16="http://schemas.microsoft.com/office/drawing/2014/main" id="{002E1F63-3E94-48EA-91DD-17F7DBF9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8CF1E1-AF2C-4A7A-9D9B-6E5791F8919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78974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A646-3F05-41BD-BA9D-6A60668CF1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CAFC74-62AE-4F3C-95CC-0CFF570091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4363BE-8AEC-4DD2-A264-30B5E6F6C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F8A4468-B1BE-43E6-8A25-ABCA51F52EA2}"/>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6" name="Footer Placeholder 5">
            <a:extLst>
              <a:ext uri="{FF2B5EF4-FFF2-40B4-BE49-F238E27FC236}">
                <a16:creationId xmlns:a16="http://schemas.microsoft.com/office/drawing/2014/main" id="{9D4281D3-08A9-41F0-95E6-5F75E9E1A5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1B9076-71A4-4769-B7E2-B207BF2932F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76060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14551-A5A8-4F7F-B102-64C6668792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178FF0-EDC1-4649-993E-F1C1A4CD18A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60A0A-1E3F-4159-9BAE-9DD1FF2D7B30}"/>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3807B1C8-9FA3-4207-B873-BE7F8F9A6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839AA-58FF-471C-8975-6751F685CD26}"/>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31783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954D6-8F8E-4B98-B933-BA81F2F7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517CE-41D9-46F7-BE17-9E300CF5911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F15BD-BA0E-4152-8A8A-FEACCA95F50F}"/>
              </a:ext>
            </a:extLst>
          </p:cNvPr>
          <p:cNvSpPr>
            <a:spLocks noGrp="1"/>
          </p:cNvSpPr>
          <p:nvPr>
            <p:ph type="dt" sz="half" idx="10"/>
          </p:nvPr>
        </p:nvSpPr>
        <p:spPr/>
        <p:txBody>
          <a:body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31D42A3B-2604-46D8-89A7-7CE8CA7BF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F16203-1EA3-4218-9934-DFF3BBD08719}"/>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165184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C46393-677D-45FA-870C-691E5D7F2B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85D11D-AD7F-4E61-B1CB-100C500093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E2AE0-DEDC-4747-9DDF-2EA56E8F2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BB7A0-B413-4944-940A-D9C71B14BA6D}" type="datetimeFigureOut">
              <a:rPr lang="en-US" smtClean="0"/>
              <a:t>23-Jul-21</a:t>
            </a:fld>
            <a:endParaRPr lang="en-US"/>
          </a:p>
        </p:txBody>
      </p:sp>
      <p:sp>
        <p:nvSpPr>
          <p:cNvPr id="5" name="Footer Placeholder 4">
            <a:extLst>
              <a:ext uri="{FF2B5EF4-FFF2-40B4-BE49-F238E27FC236}">
                <a16:creationId xmlns:a16="http://schemas.microsoft.com/office/drawing/2014/main" id="{DAAD9A1C-85BD-4CBC-A315-F68961BAD2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982506-1731-4A61-867D-D1E5F6C3A6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37C736-6173-4B5A-B7F4-73627DD6F3BD}" type="slidenum">
              <a:rPr lang="en-US" smtClean="0"/>
              <a:t>‹#›</a:t>
            </a:fld>
            <a:endParaRPr lang="en-US"/>
          </a:p>
        </p:txBody>
      </p:sp>
    </p:spTree>
    <p:extLst>
      <p:ext uri="{BB962C8B-B14F-4D97-AF65-F5344CB8AC3E}">
        <p14:creationId xmlns:p14="http://schemas.microsoft.com/office/powerpoint/2010/main" val="2911551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 System Advisory">
            <a:extLst>
              <a:ext uri="{FF2B5EF4-FFF2-40B4-BE49-F238E27FC236}">
                <a16:creationId xmlns:a16="http://schemas.microsoft.com/office/drawing/2014/main" id="{AAB75842-C971-492C-8D68-2E298367E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7" y="-142876"/>
            <a:ext cx="12215674" cy="716343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956DF1B-9630-4429-9A34-E547CB2DBCF2}"/>
              </a:ext>
            </a:extLst>
          </p:cNvPr>
          <p:cNvSpPr>
            <a:spLocks noGrp="1"/>
          </p:cNvSpPr>
          <p:nvPr>
            <p:ph type="ctrTitle"/>
          </p:nvPr>
        </p:nvSpPr>
        <p:spPr>
          <a:xfrm>
            <a:off x="1523999" y="901701"/>
            <a:ext cx="9144000" cy="995363"/>
          </a:xfrm>
          <a:gradFill flip="none" rotWithShape="1">
            <a:gsLst>
              <a:gs pos="0">
                <a:srgbClr val="FFFF00"/>
              </a:gs>
              <a:gs pos="100000">
                <a:schemeClr val="accent1">
                  <a:lumMod val="75000"/>
                  <a:alpha val="66000"/>
                </a:schemeClr>
              </a:gs>
            </a:gsLst>
            <a:path path="circle">
              <a:fillToRect r="100000" b="100000"/>
            </a:path>
            <a:tileRect l="-100000" t="-100000"/>
          </a:gradFill>
        </p:spPr>
        <p:txBody>
          <a:bodyPr>
            <a:normAutofit fontScale="90000"/>
          </a:bodyPr>
          <a:lstStyle/>
          <a:p>
            <a:r>
              <a:rPr lang="en-US" sz="6600" dirty="0">
                <a:solidFill>
                  <a:srgbClr val="FF0000"/>
                </a:solidFill>
                <a:latin typeface="Berlin Sans FB" panose="020E0602020502020306" pitchFamily="34" charset="0"/>
              </a:rPr>
              <a:t>Project Presentation</a:t>
            </a:r>
          </a:p>
        </p:txBody>
      </p:sp>
      <p:sp>
        <p:nvSpPr>
          <p:cNvPr id="3" name="Subtitle 2">
            <a:extLst>
              <a:ext uri="{FF2B5EF4-FFF2-40B4-BE49-F238E27FC236}">
                <a16:creationId xmlns:a16="http://schemas.microsoft.com/office/drawing/2014/main" id="{5E4F1728-68D2-4E4A-885C-99221FB3E807}"/>
              </a:ext>
            </a:extLst>
          </p:cNvPr>
          <p:cNvSpPr>
            <a:spLocks noGrp="1"/>
          </p:cNvSpPr>
          <p:nvPr>
            <p:ph type="subTitle" idx="1"/>
          </p:nvPr>
        </p:nvSpPr>
        <p:spPr>
          <a:xfrm>
            <a:off x="2328862" y="2066132"/>
            <a:ext cx="7534275" cy="2048668"/>
          </a:xfrm>
          <a:gradFill>
            <a:gsLst>
              <a:gs pos="0">
                <a:srgbClr val="FFFF00"/>
              </a:gs>
              <a:gs pos="100000">
                <a:schemeClr val="accent1">
                  <a:lumMod val="75000"/>
                  <a:alpha val="53000"/>
                </a:schemeClr>
              </a:gs>
            </a:gsLst>
            <a:path path="circle">
              <a:fillToRect r="100000" b="100000"/>
            </a:path>
          </a:gradFill>
        </p:spPr>
        <p:txBody>
          <a:bodyPr>
            <a:normAutofit lnSpcReduction="10000"/>
          </a:bodyPr>
          <a:lstStyle/>
          <a:p>
            <a:r>
              <a:rPr lang="en-US" sz="4400" dirty="0">
                <a:solidFill>
                  <a:srgbClr val="FF0000"/>
                </a:solidFill>
                <a:latin typeface="Berlin Sans FB" panose="020E0602020502020306" pitchFamily="34" charset="0"/>
              </a:rPr>
              <a:t>EEE 306</a:t>
            </a:r>
          </a:p>
          <a:p>
            <a:r>
              <a:rPr lang="en-US" sz="4400" dirty="0">
                <a:solidFill>
                  <a:srgbClr val="FF0000"/>
                </a:solidFill>
                <a:latin typeface="Berlin Sans FB" panose="020E0602020502020306" pitchFamily="34" charset="0"/>
              </a:rPr>
              <a:t>Power System Laboratory</a:t>
            </a:r>
          </a:p>
          <a:p>
            <a:r>
              <a:rPr lang="en-US" sz="4400" dirty="0">
                <a:solidFill>
                  <a:srgbClr val="FF0000"/>
                </a:solidFill>
                <a:latin typeface="Berlin Sans FB" panose="020E0602020502020306" pitchFamily="34" charset="0"/>
              </a:rPr>
              <a:t>Group: 06</a:t>
            </a:r>
          </a:p>
        </p:txBody>
      </p:sp>
    </p:spTree>
    <p:extLst>
      <p:ext uri="{BB962C8B-B14F-4D97-AF65-F5344CB8AC3E}">
        <p14:creationId xmlns:p14="http://schemas.microsoft.com/office/powerpoint/2010/main" val="756308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AFC299-98A8-49B9-AEC1-35B1EBF80C47}"/>
              </a:ext>
            </a:extLst>
          </p:cNvPr>
          <p:cNvSpPr txBox="1"/>
          <p:nvPr/>
        </p:nvSpPr>
        <p:spPr>
          <a:xfrm>
            <a:off x="1442720" y="0"/>
            <a:ext cx="8961120" cy="954107"/>
          </a:xfrm>
          <a:prstGeom prst="rect">
            <a:avLst/>
          </a:prstGeom>
          <a:noFill/>
        </p:spPr>
        <p:txBody>
          <a:bodyPr wrap="square" rtlCol="0">
            <a:spAutoFit/>
          </a:bodyPr>
          <a:lstStyle/>
          <a:p>
            <a:pPr algn="ctr"/>
            <a:r>
              <a:rPr lang="en-US" sz="2800" dirty="0">
                <a:latin typeface="Berlin Sans FB" panose="020E0602020502020306" pitchFamily="34" charset="0"/>
              </a:rPr>
              <a:t>Load Flow Analysis on</a:t>
            </a:r>
          </a:p>
          <a:p>
            <a:pPr algn="ctr"/>
            <a:r>
              <a:rPr lang="en-US" sz="2800" dirty="0">
                <a:latin typeface="Berlin Sans FB" panose="020E0602020502020306" pitchFamily="34" charset="0"/>
              </a:rPr>
              <a:t> IEEE 39 Bus System at 50Hz</a:t>
            </a:r>
          </a:p>
        </p:txBody>
      </p:sp>
      <p:pic>
        <p:nvPicPr>
          <p:cNvPr id="3" name="Picture 2">
            <a:extLst>
              <a:ext uri="{FF2B5EF4-FFF2-40B4-BE49-F238E27FC236}">
                <a16:creationId xmlns:a16="http://schemas.microsoft.com/office/drawing/2014/main" id="{FAA45054-69F7-4A58-A0E9-3E65CA0AA52C}"/>
              </a:ext>
            </a:extLst>
          </p:cNvPr>
          <p:cNvPicPr>
            <a:picLocks noChangeAspect="1"/>
          </p:cNvPicPr>
          <p:nvPr/>
        </p:nvPicPr>
        <p:blipFill>
          <a:blip r:embed="rId2"/>
          <a:stretch>
            <a:fillRect/>
          </a:stretch>
        </p:blipFill>
        <p:spPr>
          <a:xfrm>
            <a:off x="3007359" y="853440"/>
            <a:ext cx="6576497" cy="6004560"/>
          </a:xfrm>
          <a:prstGeom prst="rect">
            <a:avLst/>
          </a:prstGeom>
        </p:spPr>
      </p:pic>
    </p:spTree>
    <p:extLst>
      <p:ext uri="{BB962C8B-B14F-4D97-AF65-F5344CB8AC3E}">
        <p14:creationId xmlns:p14="http://schemas.microsoft.com/office/powerpoint/2010/main" val="2019557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F31BFAC-355D-41E3-A8AA-AD7C9AEBEF18}"/>
              </a:ext>
            </a:extLst>
          </p:cNvPr>
          <p:cNvSpPr/>
          <p:nvPr/>
        </p:nvSpPr>
        <p:spPr>
          <a:xfrm>
            <a:off x="4622800" y="146110"/>
            <a:ext cx="2540000" cy="64637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91EB97-9373-4813-8CA1-B1361D9F7173}"/>
              </a:ext>
            </a:extLst>
          </p:cNvPr>
          <p:cNvSpPr txBox="1"/>
          <p:nvPr/>
        </p:nvSpPr>
        <p:spPr>
          <a:xfrm>
            <a:off x="4709160" y="207685"/>
            <a:ext cx="2453640" cy="523220"/>
          </a:xfrm>
          <a:prstGeom prst="rect">
            <a:avLst/>
          </a:prstGeom>
          <a:noFill/>
        </p:spPr>
        <p:txBody>
          <a:bodyPr wrap="square" rtlCol="0">
            <a:spAutoFit/>
          </a:bodyPr>
          <a:lstStyle/>
          <a:p>
            <a:r>
              <a:rPr lang="en-US" sz="2800" dirty="0">
                <a:latin typeface="Berlin Sans FB" panose="020E0602020502020306" pitchFamily="34" charset="0"/>
              </a:rPr>
              <a:t>Solution Steps</a:t>
            </a:r>
          </a:p>
        </p:txBody>
      </p:sp>
      <p:sp>
        <p:nvSpPr>
          <p:cNvPr id="7" name="Rectangle: Rounded Corners 6">
            <a:extLst>
              <a:ext uri="{FF2B5EF4-FFF2-40B4-BE49-F238E27FC236}">
                <a16:creationId xmlns:a16="http://schemas.microsoft.com/office/drawing/2014/main" id="{D5393C81-9AEC-4194-94EC-9FF67EB60D65}"/>
              </a:ext>
            </a:extLst>
          </p:cNvPr>
          <p:cNvSpPr/>
          <p:nvPr/>
        </p:nvSpPr>
        <p:spPr>
          <a:xfrm>
            <a:off x="365760" y="1174491"/>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49F2DC9-4E3F-45C2-8972-8B971261172B}"/>
              </a:ext>
            </a:extLst>
          </p:cNvPr>
          <p:cNvSpPr txBox="1"/>
          <p:nvPr/>
        </p:nvSpPr>
        <p:spPr>
          <a:xfrm>
            <a:off x="452120" y="1236066"/>
            <a:ext cx="1366520" cy="461665"/>
          </a:xfrm>
          <a:prstGeom prst="rect">
            <a:avLst/>
          </a:prstGeom>
          <a:noFill/>
        </p:spPr>
        <p:txBody>
          <a:bodyPr wrap="square" rtlCol="0">
            <a:spAutoFit/>
          </a:bodyPr>
          <a:lstStyle/>
          <a:p>
            <a:r>
              <a:rPr lang="en-US" sz="2400" dirty="0">
                <a:latin typeface="Berlin Sans FB" panose="020E0602020502020306" pitchFamily="34" charset="0"/>
              </a:rPr>
              <a:t>Step 01:</a:t>
            </a:r>
          </a:p>
        </p:txBody>
      </p:sp>
      <p:sp>
        <p:nvSpPr>
          <p:cNvPr id="9" name="TextBox 8">
            <a:extLst>
              <a:ext uri="{FF2B5EF4-FFF2-40B4-BE49-F238E27FC236}">
                <a16:creationId xmlns:a16="http://schemas.microsoft.com/office/drawing/2014/main" id="{A927A064-3FBB-4E78-AE30-D126E8ECD427}"/>
              </a:ext>
            </a:extLst>
          </p:cNvPr>
          <p:cNvSpPr txBox="1"/>
          <p:nvPr/>
        </p:nvSpPr>
        <p:spPr>
          <a:xfrm>
            <a:off x="1818640" y="1056044"/>
            <a:ext cx="9072880" cy="830997"/>
          </a:xfrm>
          <a:prstGeom prst="rect">
            <a:avLst/>
          </a:prstGeom>
          <a:noFill/>
        </p:spPr>
        <p:txBody>
          <a:bodyPr wrap="square" rtlCol="0">
            <a:spAutoFit/>
          </a:bodyPr>
          <a:lstStyle/>
          <a:p>
            <a:r>
              <a:rPr lang="en-US" sz="2400" dirty="0">
                <a:latin typeface="Berlin Sans FB" panose="020E0602020502020306" pitchFamily="34" charset="0"/>
              </a:rPr>
              <a:t>Simulating the system with Given Data , with out any DC Line, Induction Motors, TCUL </a:t>
            </a:r>
            <a:r>
              <a:rPr lang="en-US" sz="2400" dirty="0" err="1">
                <a:latin typeface="Berlin Sans FB" panose="020E0602020502020306" pitchFamily="34" charset="0"/>
              </a:rPr>
              <a:t>Xmer</a:t>
            </a:r>
            <a:endParaRPr lang="en-US" sz="2400" dirty="0">
              <a:latin typeface="Berlin Sans FB" panose="020E0602020502020306" pitchFamily="34" charset="0"/>
            </a:endParaRPr>
          </a:p>
        </p:txBody>
      </p:sp>
      <p:sp>
        <p:nvSpPr>
          <p:cNvPr id="11" name="Rectangle: Rounded Corners 10">
            <a:extLst>
              <a:ext uri="{FF2B5EF4-FFF2-40B4-BE49-F238E27FC236}">
                <a16:creationId xmlns:a16="http://schemas.microsoft.com/office/drawing/2014/main" id="{965DEF6B-43A0-4777-983D-63E49655103B}"/>
              </a:ext>
            </a:extLst>
          </p:cNvPr>
          <p:cNvSpPr/>
          <p:nvPr/>
        </p:nvSpPr>
        <p:spPr>
          <a:xfrm>
            <a:off x="350520" y="26595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24855E7-6E51-41C2-944A-BDA6C7C37E83}"/>
              </a:ext>
            </a:extLst>
          </p:cNvPr>
          <p:cNvSpPr txBox="1"/>
          <p:nvPr/>
        </p:nvSpPr>
        <p:spPr>
          <a:xfrm>
            <a:off x="350520" y="27043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13" name="TextBox 12">
            <a:extLst>
              <a:ext uri="{FF2B5EF4-FFF2-40B4-BE49-F238E27FC236}">
                <a16:creationId xmlns:a16="http://schemas.microsoft.com/office/drawing/2014/main" id="{F4A67E00-76AA-49F7-8398-90A9B1ED0815}"/>
              </a:ext>
            </a:extLst>
          </p:cNvPr>
          <p:cNvSpPr txBox="1"/>
          <p:nvPr/>
        </p:nvSpPr>
        <p:spPr>
          <a:xfrm>
            <a:off x="1859280" y="2659539"/>
            <a:ext cx="9072880" cy="1384995"/>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No Overloading Occurred.</a:t>
            </a:r>
          </a:p>
          <a:p>
            <a:pPr marL="342900" indent="-342900">
              <a:buFont typeface="Wingdings" panose="05000000000000000000" pitchFamily="2" charset="2"/>
              <a:buChar char="q"/>
            </a:pPr>
            <a:r>
              <a:rPr lang="en-US" sz="2800" dirty="0">
                <a:latin typeface="Berlin Sans FB" panose="020E0602020502020306" pitchFamily="34" charset="0"/>
              </a:rPr>
              <a:t>Couple of Line underloading and under loaded Transformer was observed</a:t>
            </a:r>
          </a:p>
        </p:txBody>
      </p:sp>
    </p:spTree>
    <p:extLst>
      <p:ext uri="{BB962C8B-B14F-4D97-AF65-F5344CB8AC3E}">
        <p14:creationId xmlns:p14="http://schemas.microsoft.com/office/powerpoint/2010/main" val="138815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C15AAE1-A501-4523-A3B9-C456B84565D2}"/>
              </a:ext>
            </a:extLst>
          </p:cNvPr>
          <p:cNvSpPr/>
          <p:nvPr/>
        </p:nvSpPr>
        <p:spPr>
          <a:xfrm>
            <a:off x="406400" y="727451"/>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2C480CC-90BE-48E7-A1B2-268F57A8AAC4}"/>
              </a:ext>
            </a:extLst>
          </p:cNvPr>
          <p:cNvSpPr txBox="1"/>
          <p:nvPr/>
        </p:nvSpPr>
        <p:spPr>
          <a:xfrm>
            <a:off x="492760" y="789026"/>
            <a:ext cx="1366520" cy="461665"/>
          </a:xfrm>
          <a:prstGeom prst="rect">
            <a:avLst/>
          </a:prstGeom>
          <a:noFill/>
        </p:spPr>
        <p:txBody>
          <a:bodyPr wrap="square" rtlCol="0">
            <a:spAutoFit/>
          </a:bodyPr>
          <a:lstStyle/>
          <a:p>
            <a:r>
              <a:rPr lang="en-US" sz="2400" dirty="0">
                <a:latin typeface="Berlin Sans FB" panose="020E0602020502020306" pitchFamily="34" charset="0"/>
              </a:rPr>
              <a:t>Step 02:</a:t>
            </a:r>
          </a:p>
        </p:txBody>
      </p:sp>
      <p:sp>
        <p:nvSpPr>
          <p:cNvPr id="4" name="TextBox 3">
            <a:extLst>
              <a:ext uri="{FF2B5EF4-FFF2-40B4-BE49-F238E27FC236}">
                <a16:creationId xmlns:a16="http://schemas.microsoft.com/office/drawing/2014/main" id="{CF864797-2243-44E9-83BE-C1BF5BEDD854}"/>
              </a:ext>
            </a:extLst>
          </p:cNvPr>
          <p:cNvSpPr txBox="1"/>
          <p:nvPr/>
        </p:nvSpPr>
        <p:spPr>
          <a:xfrm>
            <a:off x="1859280" y="609004"/>
            <a:ext cx="9072880" cy="830997"/>
          </a:xfrm>
          <a:prstGeom prst="rect">
            <a:avLst/>
          </a:prstGeom>
          <a:noFill/>
        </p:spPr>
        <p:txBody>
          <a:bodyPr wrap="square" rtlCol="0">
            <a:spAutoFit/>
          </a:bodyPr>
          <a:lstStyle/>
          <a:p>
            <a:r>
              <a:rPr lang="en-US" sz="2400" dirty="0">
                <a:latin typeface="Berlin Sans FB" panose="020E0602020502020306" pitchFamily="34" charset="0"/>
              </a:rPr>
              <a:t>Simulating the system with Given Data , with a DC Line, Induction Motors, TCUL </a:t>
            </a:r>
            <a:r>
              <a:rPr lang="en-US" sz="2400" dirty="0" err="1">
                <a:latin typeface="Berlin Sans FB" panose="020E0602020502020306" pitchFamily="34" charset="0"/>
              </a:rPr>
              <a:t>Xmer</a:t>
            </a:r>
            <a:r>
              <a:rPr lang="en-US" sz="2400" dirty="0">
                <a:latin typeface="Berlin Sans FB" panose="020E0602020502020306" pitchFamily="34" charset="0"/>
              </a:rPr>
              <a:t>, Removing L15 AC line</a:t>
            </a:r>
          </a:p>
        </p:txBody>
      </p:sp>
      <p:sp>
        <p:nvSpPr>
          <p:cNvPr id="5" name="Rectangle: Rounded Corners 4">
            <a:extLst>
              <a:ext uri="{FF2B5EF4-FFF2-40B4-BE49-F238E27FC236}">
                <a16:creationId xmlns:a16="http://schemas.microsoft.com/office/drawing/2014/main" id="{C74AD7F8-5A03-4EDA-B4A3-5A7285B99B4C}"/>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9F1491-7B7F-46F3-ABC0-60C650A79459}"/>
              </a:ext>
            </a:extLst>
          </p:cNvPr>
          <p:cNvSpPr txBox="1"/>
          <p:nvPr/>
        </p:nvSpPr>
        <p:spPr>
          <a:xfrm>
            <a:off x="350520" y="26027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D1641A12-AEBA-420D-A80D-A18DB4F6C3B0}"/>
              </a:ext>
            </a:extLst>
          </p:cNvPr>
          <p:cNvSpPr txBox="1"/>
          <p:nvPr/>
        </p:nvSpPr>
        <p:spPr>
          <a:xfrm>
            <a:off x="1859280" y="255793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Some bus was out of  their voltage limit</a:t>
            </a:r>
          </a:p>
          <a:p>
            <a:pPr marL="342900" indent="-342900">
              <a:buFont typeface="Wingdings" panose="05000000000000000000" pitchFamily="2" charset="2"/>
              <a:buChar char="q"/>
            </a:pPr>
            <a:r>
              <a:rPr lang="en-US" sz="2800" dirty="0">
                <a:latin typeface="Berlin Sans FB" panose="020E0602020502020306" pitchFamily="34" charset="0"/>
              </a:rPr>
              <a:t>At L22, L14, L17,l07,L18,L09 line Overloading Occurred.</a:t>
            </a:r>
          </a:p>
          <a:p>
            <a:pPr marL="342900" indent="-342900">
              <a:buFont typeface="Wingdings" panose="05000000000000000000" pitchFamily="2" charset="2"/>
              <a:buChar char="q"/>
            </a:pPr>
            <a:r>
              <a:rPr lang="en-US" sz="2800" dirty="0">
                <a:latin typeface="Berlin Sans FB" panose="020E0602020502020306" pitchFamily="34" charset="0"/>
              </a:rPr>
              <a:t> Transformer 03 was highly overloaded</a:t>
            </a:r>
          </a:p>
          <a:p>
            <a:pPr marL="342900" indent="-342900">
              <a:buFont typeface="Wingdings" panose="05000000000000000000" pitchFamily="2" charset="2"/>
              <a:buChar char="q"/>
            </a:pPr>
            <a:r>
              <a:rPr lang="en-US" sz="2800" dirty="0">
                <a:latin typeface="Berlin Sans FB" panose="020E0602020502020306" pitchFamily="34" charset="0"/>
              </a:rPr>
              <a:t> G03,G06,G07 crossed their Reactive Limits</a:t>
            </a:r>
          </a:p>
        </p:txBody>
      </p:sp>
    </p:spTree>
    <p:extLst>
      <p:ext uri="{BB962C8B-B14F-4D97-AF65-F5344CB8AC3E}">
        <p14:creationId xmlns:p14="http://schemas.microsoft.com/office/powerpoint/2010/main" val="1828187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350520" y="3461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36880" y="407749"/>
            <a:ext cx="1366520" cy="461665"/>
          </a:xfrm>
          <a:prstGeom prst="rect">
            <a:avLst/>
          </a:prstGeom>
          <a:noFill/>
        </p:spPr>
        <p:txBody>
          <a:bodyPr wrap="square" rtlCol="0">
            <a:spAutoFit/>
          </a:bodyPr>
          <a:lstStyle/>
          <a:p>
            <a:r>
              <a:rPr lang="en-US" sz="2400" dirty="0">
                <a:latin typeface="Berlin Sans FB" panose="020E0602020502020306" pitchFamily="34" charset="0"/>
              </a:rPr>
              <a:t>Step 03:</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173497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177980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173497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No Gen has crossed their Reactive Limits</a:t>
            </a:r>
          </a:p>
          <a:p>
            <a:pPr marL="342900" indent="-342900">
              <a:buFont typeface="Wingdings" panose="05000000000000000000" pitchFamily="2" charset="2"/>
              <a:buChar char="q"/>
            </a:pPr>
            <a:r>
              <a:rPr lang="en-US" sz="2800" dirty="0">
                <a:latin typeface="Berlin Sans FB" panose="020E0602020502020306" pitchFamily="34" charset="0"/>
              </a:rPr>
              <a:t>Some bus was out of their voltage limit</a:t>
            </a:r>
          </a:p>
          <a:p>
            <a:pPr marL="342900" indent="-342900">
              <a:buFont typeface="Wingdings" panose="05000000000000000000" pitchFamily="2" charset="2"/>
              <a:buChar char="q"/>
            </a:pPr>
            <a:r>
              <a:rPr lang="en-US" sz="2800" dirty="0">
                <a:latin typeface="Berlin Sans FB" panose="020E0602020502020306" pitchFamily="34" charset="0"/>
              </a:rPr>
              <a:t>Transformer 03 was overloaded as before </a:t>
            </a:r>
          </a:p>
          <a:p>
            <a:pPr marL="342900" indent="-342900">
              <a:buFont typeface="Wingdings" panose="05000000000000000000" pitchFamily="2" charset="2"/>
              <a:buChar char="q"/>
            </a:pPr>
            <a:r>
              <a:rPr lang="en-US" sz="2800" dirty="0">
                <a:latin typeface="Berlin Sans FB" panose="020E0602020502020306" pitchFamily="34" charset="0"/>
              </a:rPr>
              <a:t>Line Overloading remained same</a:t>
            </a:r>
          </a:p>
        </p:txBody>
      </p:sp>
      <p:sp>
        <p:nvSpPr>
          <p:cNvPr id="8" name="TextBox 7">
            <a:extLst>
              <a:ext uri="{FF2B5EF4-FFF2-40B4-BE49-F238E27FC236}">
                <a16:creationId xmlns:a16="http://schemas.microsoft.com/office/drawing/2014/main" id="{88A3697E-6B3B-4422-BD4F-DE4EE494FCD1}"/>
              </a:ext>
            </a:extLst>
          </p:cNvPr>
          <p:cNvSpPr txBox="1"/>
          <p:nvPr/>
        </p:nvSpPr>
        <p:spPr>
          <a:xfrm>
            <a:off x="1996440" y="355600"/>
            <a:ext cx="9291320" cy="830997"/>
          </a:xfrm>
          <a:prstGeom prst="rect">
            <a:avLst/>
          </a:prstGeom>
          <a:noFill/>
        </p:spPr>
        <p:txBody>
          <a:bodyPr wrap="square" rtlCol="0">
            <a:spAutoFit/>
          </a:bodyPr>
          <a:lstStyle/>
          <a:p>
            <a:r>
              <a:rPr lang="en-US" sz="2400" dirty="0">
                <a:latin typeface="Berlin Sans FB" panose="020E0602020502020306" pitchFamily="34" charset="0"/>
              </a:rPr>
              <a:t>To solve Generators at reactive limits problem, one SVC was connected B23</a:t>
            </a:r>
          </a:p>
        </p:txBody>
      </p:sp>
      <p:sp>
        <p:nvSpPr>
          <p:cNvPr id="9" name="Rectangle: Rounded Corners 8">
            <a:extLst>
              <a:ext uri="{FF2B5EF4-FFF2-40B4-BE49-F238E27FC236}">
                <a16:creationId xmlns:a16="http://schemas.microsoft.com/office/drawing/2014/main" id="{DE9036C3-D8EE-416A-AB1D-A5AB7191CE16}"/>
              </a:ext>
            </a:extLst>
          </p:cNvPr>
          <p:cNvSpPr/>
          <p:nvPr/>
        </p:nvSpPr>
        <p:spPr>
          <a:xfrm>
            <a:off x="231072" y="4110164"/>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75A1A4-3399-4854-BDBA-04CD9813DEFE}"/>
              </a:ext>
            </a:extLst>
          </p:cNvPr>
          <p:cNvSpPr txBox="1"/>
          <p:nvPr/>
        </p:nvSpPr>
        <p:spPr>
          <a:xfrm>
            <a:off x="231071" y="4246431"/>
            <a:ext cx="1765369" cy="461665"/>
          </a:xfrm>
          <a:prstGeom prst="rect">
            <a:avLst/>
          </a:prstGeom>
          <a:noFill/>
        </p:spPr>
        <p:txBody>
          <a:bodyPr wrap="square" rtlCol="0">
            <a:spAutoFit/>
          </a:bodyPr>
          <a:lstStyle/>
          <a:p>
            <a:pPr algn="ctr"/>
            <a:r>
              <a:rPr lang="en-US" sz="2400" dirty="0">
                <a:latin typeface="Berlin Sans FB" panose="020E0602020502020306" pitchFamily="34" charset="0"/>
              </a:rPr>
              <a:t>Explanation</a:t>
            </a:r>
          </a:p>
        </p:txBody>
      </p:sp>
      <p:sp>
        <p:nvSpPr>
          <p:cNvPr id="11" name="TextBox 10">
            <a:extLst>
              <a:ext uri="{FF2B5EF4-FFF2-40B4-BE49-F238E27FC236}">
                <a16:creationId xmlns:a16="http://schemas.microsoft.com/office/drawing/2014/main" id="{FC3DA05C-585B-4633-8474-1930388EFA38}"/>
              </a:ext>
            </a:extLst>
          </p:cNvPr>
          <p:cNvSpPr txBox="1"/>
          <p:nvPr/>
        </p:nvSpPr>
        <p:spPr>
          <a:xfrm>
            <a:off x="2275840" y="4110164"/>
            <a:ext cx="7640320" cy="1938992"/>
          </a:xfrm>
          <a:prstGeom prst="rect">
            <a:avLst/>
          </a:prstGeom>
          <a:noFill/>
        </p:spPr>
        <p:txBody>
          <a:bodyPr wrap="square" rtlCol="0">
            <a:spAutoFit/>
          </a:bodyPr>
          <a:lstStyle/>
          <a:p>
            <a:pPr algn="just"/>
            <a:r>
              <a:rPr lang="en-US" sz="2400" dirty="0"/>
              <a:t>Generator 07, connected at B23, were consuming highly reactive power than reactive limits. SVC can absorb or deliver reactive power . So, one SVC was connected at B23. G07 problem was solved as well as G03,G06.</a:t>
            </a:r>
          </a:p>
          <a:p>
            <a:pPr algn="just"/>
            <a:endParaRPr lang="en-US" sz="2400" dirty="0"/>
          </a:p>
        </p:txBody>
      </p:sp>
    </p:spTree>
    <p:extLst>
      <p:ext uri="{BB962C8B-B14F-4D97-AF65-F5344CB8AC3E}">
        <p14:creationId xmlns:p14="http://schemas.microsoft.com/office/powerpoint/2010/main" val="182872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350520" y="3461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36880" y="407749"/>
            <a:ext cx="1366520" cy="461665"/>
          </a:xfrm>
          <a:prstGeom prst="rect">
            <a:avLst/>
          </a:prstGeom>
          <a:noFill/>
        </p:spPr>
        <p:txBody>
          <a:bodyPr wrap="square" rtlCol="0">
            <a:spAutoFit/>
          </a:bodyPr>
          <a:lstStyle/>
          <a:p>
            <a:r>
              <a:rPr lang="en-US" sz="2400" dirty="0">
                <a:latin typeface="Berlin Sans FB" panose="020E0602020502020306" pitchFamily="34" charset="0"/>
              </a:rPr>
              <a:t>Step 04:</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173497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177980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173497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No Gen has crossed their Reactive Limits</a:t>
            </a:r>
          </a:p>
          <a:p>
            <a:pPr marL="342900" indent="-342900">
              <a:buFont typeface="Wingdings" panose="05000000000000000000" pitchFamily="2" charset="2"/>
              <a:buChar char="q"/>
            </a:pPr>
            <a:r>
              <a:rPr lang="en-US" sz="2800" dirty="0">
                <a:latin typeface="Berlin Sans FB" panose="020E0602020502020306" pitchFamily="34" charset="0"/>
              </a:rPr>
              <a:t>No buses were out of their voltage limits</a:t>
            </a:r>
          </a:p>
          <a:p>
            <a:pPr marL="342900" indent="-342900">
              <a:buFont typeface="Wingdings" panose="05000000000000000000" pitchFamily="2" charset="2"/>
              <a:buChar char="q"/>
            </a:pPr>
            <a:r>
              <a:rPr lang="en-US" sz="2800" dirty="0">
                <a:latin typeface="Berlin Sans FB" panose="020E0602020502020306" pitchFamily="34" charset="0"/>
              </a:rPr>
              <a:t>Transformer 03 was overloaded as before </a:t>
            </a:r>
          </a:p>
          <a:p>
            <a:pPr marL="342900" indent="-342900">
              <a:buFont typeface="Wingdings" panose="05000000000000000000" pitchFamily="2" charset="2"/>
              <a:buChar char="q"/>
            </a:pPr>
            <a:r>
              <a:rPr lang="en-US" sz="2800" dirty="0">
                <a:latin typeface="Berlin Sans FB" panose="020E0602020502020306" pitchFamily="34" charset="0"/>
              </a:rPr>
              <a:t>Line Overloading L22, L07, L18,L09</a:t>
            </a:r>
          </a:p>
        </p:txBody>
      </p:sp>
      <p:sp>
        <p:nvSpPr>
          <p:cNvPr id="8" name="TextBox 7">
            <a:extLst>
              <a:ext uri="{FF2B5EF4-FFF2-40B4-BE49-F238E27FC236}">
                <a16:creationId xmlns:a16="http://schemas.microsoft.com/office/drawing/2014/main" id="{88A3697E-6B3B-4422-BD4F-DE4EE494FCD1}"/>
              </a:ext>
            </a:extLst>
          </p:cNvPr>
          <p:cNvSpPr txBox="1"/>
          <p:nvPr/>
        </p:nvSpPr>
        <p:spPr>
          <a:xfrm>
            <a:off x="1996440" y="355600"/>
            <a:ext cx="9291320" cy="461665"/>
          </a:xfrm>
          <a:prstGeom prst="rect">
            <a:avLst/>
          </a:prstGeom>
          <a:noFill/>
        </p:spPr>
        <p:txBody>
          <a:bodyPr wrap="square" rtlCol="0">
            <a:spAutoFit/>
          </a:bodyPr>
          <a:lstStyle/>
          <a:p>
            <a:r>
              <a:rPr lang="en-US" sz="2400" dirty="0">
                <a:latin typeface="Berlin Sans FB" panose="020E0602020502020306" pitchFamily="34" charset="0"/>
              </a:rPr>
              <a:t> To solve bus out of voltage limit , One SVC was connected B09 </a:t>
            </a:r>
          </a:p>
        </p:txBody>
      </p:sp>
      <p:sp>
        <p:nvSpPr>
          <p:cNvPr id="9" name="Rectangle: Rounded Corners 8">
            <a:extLst>
              <a:ext uri="{FF2B5EF4-FFF2-40B4-BE49-F238E27FC236}">
                <a16:creationId xmlns:a16="http://schemas.microsoft.com/office/drawing/2014/main" id="{DE9036C3-D8EE-416A-AB1D-A5AB7191CE16}"/>
              </a:ext>
            </a:extLst>
          </p:cNvPr>
          <p:cNvSpPr/>
          <p:nvPr/>
        </p:nvSpPr>
        <p:spPr>
          <a:xfrm>
            <a:off x="231072" y="4110164"/>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75A1A4-3399-4854-BDBA-04CD9813DEFE}"/>
              </a:ext>
            </a:extLst>
          </p:cNvPr>
          <p:cNvSpPr txBox="1"/>
          <p:nvPr/>
        </p:nvSpPr>
        <p:spPr>
          <a:xfrm>
            <a:off x="231071" y="4246431"/>
            <a:ext cx="1765369" cy="461665"/>
          </a:xfrm>
          <a:prstGeom prst="rect">
            <a:avLst/>
          </a:prstGeom>
          <a:noFill/>
        </p:spPr>
        <p:txBody>
          <a:bodyPr wrap="square" rtlCol="0">
            <a:spAutoFit/>
          </a:bodyPr>
          <a:lstStyle/>
          <a:p>
            <a:pPr algn="ctr"/>
            <a:r>
              <a:rPr lang="en-US" sz="2400" dirty="0">
                <a:latin typeface="Berlin Sans FB" panose="020E0602020502020306" pitchFamily="34" charset="0"/>
              </a:rPr>
              <a:t>Explanation</a:t>
            </a:r>
          </a:p>
        </p:txBody>
      </p:sp>
      <p:sp>
        <p:nvSpPr>
          <p:cNvPr id="11" name="TextBox 10">
            <a:extLst>
              <a:ext uri="{FF2B5EF4-FFF2-40B4-BE49-F238E27FC236}">
                <a16:creationId xmlns:a16="http://schemas.microsoft.com/office/drawing/2014/main" id="{FC3DA05C-585B-4633-8474-1930388EFA38}"/>
              </a:ext>
            </a:extLst>
          </p:cNvPr>
          <p:cNvSpPr txBox="1"/>
          <p:nvPr/>
        </p:nvSpPr>
        <p:spPr>
          <a:xfrm>
            <a:off x="2275840" y="4110164"/>
            <a:ext cx="7640320" cy="1569660"/>
          </a:xfrm>
          <a:prstGeom prst="rect">
            <a:avLst/>
          </a:prstGeom>
          <a:noFill/>
        </p:spPr>
        <p:txBody>
          <a:bodyPr wrap="square" rtlCol="0">
            <a:spAutoFit/>
          </a:bodyPr>
          <a:lstStyle/>
          <a:p>
            <a:pPr algn="just"/>
            <a:r>
              <a:rPr lang="en-US" sz="2400" dirty="0"/>
              <a:t>Some buses were out of voltage limits. There voltage (</a:t>
            </a:r>
            <a:r>
              <a:rPr lang="en-US" sz="2400" dirty="0" err="1"/>
              <a:t>pu</a:t>
            </a:r>
            <a:r>
              <a:rPr lang="en-US" sz="2400" dirty="0"/>
              <a:t>) was less than minimum. So , SVC was connected at B09, to deliver reactive power . Thus, bus voltage increased and problems are solved.</a:t>
            </a:r>
          </a:p>
        </p:txBody>
      </p:sp>
    </p:spTree>
    <p:extLst>
      <p:ext uri="{BB962C8B-B14F-4D97-AF65-F5344CB8AC3E}">
        <p14:creationId xmlns:p14="http://schemas.microsoft.com/office/powerpoint/2010/main" val="4128316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406400" y="9557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92760" y="1017349"/>
            <a:ext cx="1366520" cy="461665"/>
          </a:xfrm>
          <a:prstGeom prst="rect">
            <a:avLst/>
          </a:prstGeom>
          <a:noFill/>
        </p:spPr>
        <p:txBody>
          <a:bodyPr wrap="square" rtlCol="0">
            <a:spAutoFit/>
          </a:bodyPr>
          <a:lstStyle/>
          <a:p>
            <a:r>
              <a:rPr lang="en-US" sz="2400" dirty="0">
                <a:latin typeface="Berlin Sans FB" panose="020E0602020502020306" pitchFamily="34" charset="0"/>
              </a:rPr>
              <a:t>Step 05:</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26027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2557939"/>
            <a:ext cx="9072880" cy="954107"/>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No Transformer  overloading problem was </a:t>
            </a:r>
            <a:r>
              <a:rPr lang="en-US" sz="2800" dirty="0" err="1">
                <a:latin typeface="Berlin Sans FB" panose="020E0602020502020306" pitchFamily="34" charset="0"/>
              </a:rPr>
              <a:t>occured</a:t>
            </a:r>
            <a:endParaRPr lang="en-US" sz="2800" dirty="0">
              <a:latin typeface="Berlin Sans FB" panose="020E0602020502020306" pitchFamily="34" charset="0"/>
            </a:endParaRPr>
          </a:p>
          <a:p>
            <a:pPr marL="342900" indent="-342900">
              <a:buFont typeface="Wingdings" panose="05000000000000000000" pitchFamily="2" charset="2"/>
              <a:buChar char="q"/>
            </a:pPr>
            <a:r>
              <a:rPr lang="en-US" sz="2800" dirty="0">
                <a:latin typeface="Berlin Sans FB" panose="020E0602020502020306" pitchFamily="34" charset="0"/>
              </a:rPr>
              <a:t>Line Overloading remains same L22, L07, L09</a:t>
            </a:r>
          </a:p>
        </p:txBody>
      </p:sp>
      <p:sp>
        <p:nvSpPr>
          <p:cNvPr id="8" name="TextBox 7">
            <a:extLst>
              <a:ext uri="{FF2B5EF4-FFF2-40B4-BE49-F238E27FC236}">
                <a16:creationId xmlns:a16="http://schemas.microsoft.com/office/drawing/2014/main" id="{88A3697E-6B3B-4422-BD4F-DE4EE494FCD1}"/>
              </a:ext>
            </a:extLst>
          </p:cNvPr>
          <p:cNvSpPr txBox="1"/>
          <p:nvPr/>
        </p:nvSpPr>
        <p:spPr>
          <a:xfrm>
            <a:off x="2052320" y="965200"/>
            <a:ext cx="8696960" cy="830997"/>
          </a:xfrm>
          <a:prstGeom prst="rect">
            <a:avLst/>
          </a:prstGeom>
          <a:noFill/>
        </p:spPr>
        <p:txBody>
          <a:bodyPr wrap="square" rtlCol="0">
            <a:spAutoFit/>
          </a:bodyPr>
          <a:lstStyle/>
          <a:p>
            <a:r>
              <a:rPr lang="en-US" sz="2400" dirty="0">
                <a:latin typeface="Berlin Sans FB" panose="020E0602020502020306" pitchFamily="34" charset="0"/>
              </a:rPr>
              <a:t>To solve the transformer overloading problem, active generation of G01, </a:t>
            </a:r>
            <a:r>
              <a:rPr lang="en-US" sz="2400" dirty="0">
                <a:solidFill>
                  <a:srgbClr val="FF0000"/>
                </a:solidFill>
                <a:latin typeface="Berlin Sans FB" panose="020E0602020502020306" pitchFamily="34" charset="0"/>
              </a:rPr>
              <a:t>G03,</a:t>
            </a:r>
            <a:r>
              <a:rPr lang="en-US" sz="2400" dirty="0">
                <a:latin typeface="Berlin Sans FB" panose="020E0602020502020306" pitchFamily="34" charset="0"/>
              </a:rPr>
              <a:t> G10 was increased by 50MW.</a:t>
            </a:r>
          </a:p>
        </p:txBody>
      </p:sp>
      <p:sp>
        <p:nvSpPr>
          <p:cNvPr id="9" name="Rectangle: Rounded Corners 8">
            <a:extLst>
              <a:ext uri="{FF2B5EF4-FFF2-40B4-BE49-F238E27FC236}">
                <a16:creationId xmlns:a16="http://schemas.microsoft.com/office/drawing/2014/main" id="{43818FB9-E018-40E0-A777-D9B417345E0E}"/>
              </a:ext>
            </a:extLst>
          </p:cNvPr>
          <p:cNvSpPr/>
          <p:nvPr/>
        </p:nvSpPr>
        <p:spPr>
          <a:xfrm>
            <a:off x="93912" y="4089142"/>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47F2EDD-8E72-45FC-A8F1-AC365F83DDEA}"/>
              </a:ext>
            </a:extLst>
          </p:cNvPr>
          <p:cNvSpPr txBox="1"/>
          <p:nvPr/>
        </p:nvSpPr>
        <p:spPr>
          <a:xfrm>
            <a:off x="93911" y="4225409"/>
            <a:ext cx="1765369" cy="461665"/>
          </a:xfrm>
          <a:prstGeom prst="rect">
            <a:avLst/>
          </a:prstGeom>
          <a:noFill/>
        </p:spPr>
        <p:txBody>
          <a:bodyPr wrap="square" rtlCol="0">
            <a:spAutoFit/>
          </a:bodyPr>
          <a:lstStyle/>
          <a:p>
            <a:pPr algn="ctr"/>
            <a:r>
              <a:rPr lang="en-US" sz="2400" dirty="0">
                <a:latin typeface="Berlin Sans FB" panose="020E0602020502020306" pitchFamily="34" charset="0"/>
              </a:rPr>
              <a:t>Explanation</a:t>
            </a:r>
          </a:p>
        </p:txBody>
      </p:sp>
      <p:sp>
        <p:nvSpPr>
          <p:cNvPr id="11" name="TextBox 10">
            <a:extLst>
              <a:ext uri="{FF2B5EF4-FFF2-40B4-BE49-F238E27FC236}">
                <a16:creationId xmlns:a16="http://schemas.microsoft.com/office/drawing/2014/main" id="{68E2091A-61F9-4346-B715-77DBF32FCA11}"/>
              </a:ext>
            </a:extLst>
          </p:cNvPr>
          <p:cNvSpPr txBox="1"/>
          <p:nvPr/>
        </p:nvSpPr>
        <p:spPr>
          <a:xfrm>
            <a:off x="2052320" y="4086909"/>
            <a:ext cx="8128000" cy="1200329"/>
          </a:xfrm>
          <a:prstGeom prst="rect">
            <a:avLst/>
          </a:prstGeom>
          <a:noFill/>
        </p:spPr>
        <p:txBody>
          <a:bodyPr wrap="square" rtlCol="0">
            <a:spAutoFit/>
          </a:bodyPr>
          <a:lstStyle/>
          <a:p>
            <a:r>
              <a:rPr lang="en-US" dirty="0"/>
              <a:t>T03 was connected between B31 and B06. Again, B31 is slack bus. Again, B06 is very closed to B31. So, high power is flowing through T03. To solve this, we have to increase the generation of some other generator, to release pressure of swing generator</a:t>
            </a:r>
          </a:p>
        </p:txBody>
      </p:sp>
    </p:spTree>
    <p:extLst>
      <p:ext uri="{BB962C8B-B14F-4D97-AF65-F5344CB8AC3E}">
        <p14:creationId xmlns:p14="http://schemas.microsoft.com/office/powerpoint/2010/main" val="2991759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406400" y="9557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92760" y="1017349"/>
            <a:ext cx="1366520" cy="461665"/>
          </a:xfrm>
          <a:prstGeom prst="rect">
            <a:avLst/>
          </a:prstGeom>
          <a:noFill/>
        </p:spPr>
        <p:txBody>
          <a:bodyPr wrap="square" rtlCol="0">
            <a:spAutoFit/>
          </a:bodyPr>
          <a:lstStyle/>
          <a:p>
            <a:r>
              <a:rPr lang="en-US" sz="2400" dirty="0">
                <a:latin typeface="Berlin Sans FB" panose="020E0602020502020306" pitchFamily="34" charset="0"/>
              </a:rPr>
              <a:t>Step 06:</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26027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2557939"/>
            <a:ext cx="9072880" cy="954107"/>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Line overloading problem solved at L07</a:t>
            </a:r>
          </a:p>
          <a:p>
            <a:pPr marL="342900" indent="-342900">
              <a:buFont typeface="Wingdings" panose="05000000000000000000" pitchFamily="2" charset="2"/>
              <a:buChar char="q"/>
            </a:pPr>
            <a:r>
              <a:rPr lang="en-US" sz="2800" dirty="0">
                <a:latin typeface="Berlin Sans FB" panose="020E0602020502020306" pitchFamily="34" charset="0"/>
              </a:rPr>
              <a:t>Line Overloading remains same as L22,  L09</a:t>
            </a:r>
          </a:p>
        </p:txBody>
      </p:sp>
      <p:sp>
        <p:nvSpPr>
          <p:cNvPr id="8" name="TextBox 7">
            <a:extLst>
              <a:ext uri="{FF2B5EF4-FFF2-40B4-BE49-F238E27FC236}">
                <a16:creationId xmlns:a16="http://schemas.microsoft.com/office/drawing/2014/main" id="{88A3697E-6B3B-4422-BD4F-DE4EE494FCD1}"/>
              </a:ext>
            </a:extLst>
          </p:cNvPr>
          <p:cNvSpPr txBox="1"/>
          <p:nvPr/>
        </p:nvSpPr>
        <p:spPr>
          <a:xfrm>
            <a:off x="2052320" y="965200"/>
            <a:ext cx="8696960" cy="830997"/>
          </a:xfrm>
          <a:prstGeom prst="rect">
            <a:avLst/>
          </a:prstGeom>
          <a:noFill/>
        </p:spPr>
        <p:txBody>
          <a:bodyPr wrap="square" rtlCol="0">
            <a:spAutoFit/>
          </a:bodyPr>
          <a:lstStyle/>
          <a:p>
            <a:r>
              <a:rPr lang="en-US" sz="2400" dirty="0">
                <a:latin typeface="Berlin Sans FB" panose="020E0602020502020306" pitchFamily="34" charset="0"/>
              </a:rPr>
              <a:t>To solve line overloading problem , two more svc was connected at B04 and B05</a:t>
            </a:r>
          </a:p>
        </p:txBody>
      </p:sp>
      <p:sp>
        <p:nvSpPr>
          <p:cNvPr id="9" name="Rectangle: Rounded Corners 8">
            <a:extLst>
              <a:ext uri="{FF2B5EF4-FFF2-40B4-BE49-F238E27FC236}">
                <a16:creationId xmlns:a16="http://schemas.microsoft.com/office/drawing/2014/main" id="{0C3342BD-F735-4A1C-8D55-4B79C33490CE}"/>
              </a:ext>
            </a:extLst>
          </p:cNvPr>
          <p:cNvSpPr/>
          <p:nvPr/>
        </p:nvSpPr>
        <p:spPr>
          <a:xfrm>
            <a:off x="93912" y="4089142"/>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D70F758-C232-45E5-B04B-497EA8AE9F48}"/>
              </a:ext>
            </a:extLst>
          </p:cNvPr>
          <p:cNvSpPr txBox="1"/>
          <p:nvPr/>
        </p:nvSpPr>
        <p:spPr>
          <a:xfrm>
            <a:off x="93911" y="4225409"/>
            <a:ext cx="1765369" cy="461665"/>
          </a:xfrm>
          <a:prstGeom prst="rect">
            <a:avLst/>
          </a:prstGeom>
          <a:noFill/>
        </p:spPr>
        <p:txBody>
          <a:bodyPr wrap="square" rtlCol="0">
            <a:spAutoFit/>
          </a:bodyPr>
          <a:lstStyle/>
          <a:p>
            <a:pPr algn="ctr"/>
            <a:r>
              <a:rPr lang="en-US" sz="2400" dirty="0">
                <a:latin typeface="Berlin Sans FB" panose="020E0602020502020306" pitchFamily="34" charset="0"/>
              </a:rPr>
              <a:t>Explanation</a:t>
            </a:r>
          </a:p>
        </p:txBody>
      </p:sp>
      <p:sp>
        <p:nvSpPr>
          <p:cNvPr id="11" name="TextBox 10">
            <a:extLst>
              <a:ext uri="{FF2B5EF4-FFF2-40B4-BE49-F238E27FC236}">
                <a16:creationId xmlns:a16="http://schemas.microsoft.com/office/drawing/2014/main" id="{09B6AE30-A5D9-4AD1-8BA2-FF0E836711DF}"/>
              </a:ext>
            </a:extLst>
          </p:cNvPr>
          <p:cNvSpPr txBox="1"/>
          <p:nvPr/>
        </p:nvSpPr>
        <p:spPr>
          <a:xfrm>
            <a:off x="2108200" y="4273788"/>
            <a:ext cx="7975600" cy="369332"/>
          </a:xfrm>
          <a:prstGeom prst="rect">
            <a:avLst/>
          </a:prstGeom>
          <a:noFill/>
        </p:spPr>
        <p:txBody>
          <a:bodyPr wrap="square" rtlCol="0">
            <a:spAutoFit/>
          </a:bodyPr>
          <a:lstStyle/>
          <a:p>
            <a:r>
              <a:rPr lang="en-US" dirty="0"/>
              <a:t>L07 was connected between  B04 and B05, So, we have attached SVC at both side</a:t>
            </a:r>
          </a:p>
        </p:txBody>
      </p:sp>
    </p:spTree>
    <p:extLst>
      <p:ext uri="{BB962C8B-B14F-4D97-AF65-F5344CB8AC3E}">
        <p14:creationId xmlns:p14="http://schemas.microsoft.com/office/powerpoint/2010/main" val="2851348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406400" y="9557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92760" y="1017349"/>
            <a:ext cx="1366520" cy="461665"/>
          </a:xfrm>
          <a:prstGeom prst="rect">
            <a:avLst/>
          </a:prstGeom>
          <a:noFill/>
        </p:spPr>
        <p:txBody>
          <a:bodyPr wrap="square" rtlCol="0">
            <a:spAutoFit/>
          </a:bodyPr>
          <a:lstStyle/>
          <a:p>
            <a:r>
              <a:rPr lang="en-US" sz="2400" dirty="0">
                <a:latin typeface="Berlin Sans FB" panose="020E0602020502020306" pitchFamily="34" charset="0"/>
              </a:rPr>
              <a:t>Step 07:</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26027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8" name="TextBox 7">
            <a:extLst>
              <a:ext uri="{FF2B5EF4-FFF2-40B4-BE49-F238E27FC236}">
                <a16:creationId xmlns:a16="http://schemas.microsoft.com/office/drawing/2014/main" id="{88A3697E-6B3B-4422-BD4F-DE4EE494FCD1}"/>
              </a:ext>
            </a:extLst>
          </p:cNvPr>
          <p:cNvSpPr txBox="1"/>
          <p:nvPr/>
        </p:nvSpPr>
        <p:spPr>
          <a:xfrm>
            <a:off x="2052320" y="965200"/>
            <a:ext cx="8696960" cy="830997"/>
          </a:xfrm>
          <a:prstGeom prst="rect">
            <a:avLst/>
          </a:prstGeom>
          <a:noFill/>
        </p:spPr>
        <p:txBody>
          <a:bodyPr wrap="square" rtlCol="0">
            <a:spAutoFit/>
          </a:bodyPr>
          <a:lstStyle/>
          <a:p>
            <a:r>
              <a:rPr lang="en-US" sz="2400" dirty="0">
                <a:latin typeface="Berlin Sans FB" panose="020E0602020502020306" pitchFamily="34" charset="0"/>
              </a:rPr>
              <a:t>To solve L22 and L09 overloading problem we have increased the loading limit of L09 up to 1200,and L22 at 1800</a:t>
            </a:r>
          </a:p>
        </p:txBody>
      </p:sp>
      <p:sp>
        <p:nvSpPr>
          <p:cNvPr id="9" name="TextBox 8">
            <a:extLst>
              <a:ext uri="{FF2B5EF4-FFF2-40B4-BE49-F238E27FC236}">
                <a16:creationId xmlns:a16="http://schemas.microsoft.com/office/drawing/2014/main" id="{0E188F01-8171-445E-AC3C-F8AF8198FD2D}"/>
              </a:ext>
            </a:extLst>
          </p:cNvPr>
          <p:cNvSpPr txBox="1"/>
          <p:nvPr/>
        </p:nvSpPr>
        <p:spPr>
          <a:xfrm>
            <a:off x="1864360" y="241945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latin typeface="Berlin Sans FB" panose="020E0602020502020306" pitchFamily="34" charset="0"/>
              </a:rPr>
              <a:t>After this step, only line underloading and transformer underloading was remained</a:t>
            </a:r>
          </a:p>
          <a:p>
            <a:pPr marL="342900" indent="-342900">
              <a:buFont typeface="Wingdings" panose="05000000000000000000" pitchFamily="2" charset="2"/>
              <a:buChar char="q"/>
            </a:pPr>
            <a:r>
              <a:rPr lang="en-US" sz="2800" dirty="0">
                <a:latin typeface="Berlin Sans FB" panose="020E0602020502020306" pitchFamily="34" charset="0"/>
              </a:rPr>
              <a:t>By decreasing the loading limit of line , under loading problem of line was also solved</a:t>
            </a:r>
          </a:p>
        </p:txBody>
      </p:sp>
    </p:spTree>
    <p:extLst>
      <p:ext uri="{BB962C8B-B14F-4D97-AF65-F5344CB8AC3E}">
        <p14:creationId xmlns:p14="http://schemas.microsoft.com/office/powerpoint/2010/main" val="628625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9C88629-3CC2-47F3-BCEE-68C0F9D5340D}"/>
              </a:ext>
            </a:extLst>
          </p:cNvPr>
          <p:cNvSpPr/>
          <p:nvPr/>
        </p:nvSpPr>
        <p:spPr>
          <a:xfrm>
            <a:off x="4545367" y="139028"/>
            <a:ext cx="2485747" cy="730983"/>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02F8B2-EF10-4167-A63A-23F08710644F}"/>
              </a:ext>
            </a:extLst>
          </p:cNvPr>
          <p:cNvSpPr txBox="1"/>
          <p:nvPr/>
        </p:nvSpPr>
        <p:spPr>
          <a:xfrm>
            <a:off x="4687410" y="242909"/>
            <a:ext cx="2654423" cy="523220"/>
          </a:xfrm>
          <a:prstGeom prst="rect">
            <a:avLst/>
          </a:prstGeom>
          <a:noFill/>
        </p:spPr>
        <p:txBody>
          <a:bodyPr wrap="square" rtlCol="0">
            <a:spAutoFit/>
          </a:bodyPr>
          <a:lstStyle/>
          <a:p>
            <a:r>
              <a:rPr lang="en-US" sz="2800" b="1" dirty="0"/>
              <a:t>Contributions</a:t>
            </a:r>
          </a:p>
        </p:txBody>
      </p:sp>
      <p:sp>
        <p:nvSpPr>
          <p:cNvPr id="6" name="TextBox 5">
            <a:extLst>
              <a:ext uri="{FF2B5EF4-FFF2-40B4-BE49-F238E27FC236}">
                <a16:creationId xmlns:a16="http://schemas.microsoft.com/office/drawing/2014/main" id="{2FCE6EF8-70AD-4FCE-9A93-AAD516ED7691}"/>
              </a:ext>
            </a:extLst>
          </p:cNvPr>
          <p:cNvSpPr txBox="1"/>
          <p:nvPr/>
        </p:nvSpPr>
        <p:spPr>
          <a:xfrm>
            <a:off x="1439662" y="1659285"/>
            <a:ext cx="9312676" cy="3046988"/>
          </a:xfrm>
          <a:prstGeom prst="rect">
            <a:avLst/>
          </a:prstGeom>
          <a:noFill/>
        </p:spPr>
        <p:txBody>
          <a:bodyPr wrap="square" rtlCol="0">
            <a:spAutoFit/>
          </a:bodyPr>
          <a:lstStyle/>
          <a:p>
            <a:r>
              <a:rPr lang="en-US" sz="3200" b="1" dirty="0"/>
              <a:t>1706150</a:t>
            </a:r>
            <a:r>
              <a:rPr lang="en-US" sz="3200" dirty="0"/>
              <a:t>: Data entry </a:t>
            </a:r>
          </a:p>
          <a:p>
            <a:r>
              <a:rPr lang="en-US" sz="3200" b="1" dirty="0"/>
              <a:t>1706145</a:t>
            </a:r>
            <a:r>
              <a:rPr lang="en-US" sz="3200" dirty="0"/>
              <a:t>: Data entry and cross-checking</a:t>
            </a:r>
          </a:p>
          <a:p>
            <a:r>
              <a:rPr lang="en-US" sz="3200" b="1" dirty="0"/>
              <a:t>1706149</a:t>
            </a:r>
            <a:r>
              <a:rPr lang="en-US" sz="3200" dirty="0"/>
              <a:t>: Placing corrective devices and problems solving and making presentation slide</a:t>
            </a:r>
          </a:p>
          <a:p>
            <a:r>
              <a:rPr lang="en-US" sz="3200" b="1" dirty="0"/>
              <a:t>1706189</a:t>
            </a:r>
            <a:r>
              <a:rPr lang="en-US" sz="3200" dirty="0"/>
              <a:t>:Placing corrective devices and problems solving</a:t>
            </a:r>
          </a:p>
        </p:txBody>
      </p:sp>
    </p:spTree>
    <p:extLst>
      <p:ext uri="{BB962C8B-B14F-4D97-AF65-F5344CB8AC3E}">
        <p14:creationId xmlns:p14="http://schemas.microsoft.com/office/powerpoint/2010/main" val="573961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0D69EC-8B0A-45A0-A1C8-8949EE7632CE}"/>
              </a:ext>
            </a:extLst>
          </p:cNvPr>
          <p:cNvPicPr>
            <a:picLocks noChangeAspect="1"/>
          </p:cNvPicPr>
          <p:nvPr/>
        </p:nvPicPr>
        <p:blipFill>
          <a:blip r:embed="rId2"/>
          <a:stretch>
            <a:fillRect/>
          </a:stretch>
        </p:blipFill>
        <p:spPr>
          <a:xfrm>
            <a:off x="0" y="-111760"/>
            <a:ext cx="8597963"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53D24F27-F97D-4D00-8F04-0B309FDE7691}"/>
              </a:ext>
            </a:extLst>
          </p:cNvPr>
          <p:cNvPicPr>
            <a:picLocks noChangeAspect="1"/>
          </p:cNvPicPr>
          <p:nvPr/>
        </p:nvPicPr>
        <p:blipFill>
          <a:blip r:embed="rId3"/>
          <a:stretch>
            <a:fillRect/>
          </a:stretch>
        </p:blipFill>
        <p:spPr>
          <a:xfrm>
            <a:off x="4402812" y="0"/>
            <a:ext cx="8601988"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a:extLst>
              <a:ext uri="{FF2B5EF4-FFF2-40B4-BE49-F238E27FC236}">
                <a16:creationId xmlns:a16="http://schemas.microsoft.com/office/drawing/2014/main" id="{B12A8432-9434-4100-9871-550E0ED63C24}"/>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02</a:t>
            </a:r>
          </a:p>
        </p:txBody>
      </p:sp>
    </p:spTree>
    <p:extLst>
      <p:ext uri="{BB962C8B-B14F-4D97-AF65-F5344CB8AC3E}">
        <p14:creationId xmlns:p14="http://schemas.microsoft.com/office/powerpoint/2010/main" val="2308334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45D137-9903-4AEB-A1C8-4B467B7091F2}"/>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03</a:t>
            </a:r>
          </a:p>
        </p:txBody>
      </p:sp>
      <p:pic>
        <p:nvPicPr>
          <p:cNvPr id="5" name="Picture 4">
            <a:extLst>
              <a:ext uri="{FF2B5EF4-FFF2-40B4-BE49-F238E27FC236}">
                <a16:creationId xmlns:a16="http://schemas.microsoft.com/office/drawing/2014/main" id="{401DBB07-4ED7-46DE-93EA-292A670C5278}"/>
              </a:ext>
            </a:extLst>
          </p:cNvPr>
          <p:cNvPicPr>
            <a:picLocks noChangeAspect="1"/>
          </p:cNvPicPr>
          <p:nvPr/>
        </p:nvPicPr>
        <p:blipFill>
          <a:blip r:embed="rId2"/>
          <a:stretch>
            <a:fillRect/>
          </a:stretch>
        </p:blipFill>
        <p:spPr>
          <a:xfrm>
            <a:off x="0" y="0"/>
            <a:ext cx="8794073" cy="6858000"/>
          </a:xfrm>
          <a:prstGeom prst="rect">
            <a:avLst/>
          </a:prstGeom>
        </p:spPr>
      </p:pic>
      <p:pic>
        <p:nvPicPr>
          <p:cNvPr id="6" name="Picture 5">
            <a:extLst>
              <a:ext uri="{FF2B5EF4-FFF2-40B4-BE49-F238E27FC236}">
                <a16:creationId xmlns:a16="http://schemas.microsoft.com/office/drawing/2014/main" id="{967DCAC5-A641-4832-9506-944CC2571E51}"/>
              </a:ext>
            </a:extLst>
          </p:cNvPr>
          <p:cNvPicPr>
            <a:picLocks noChangeAspect="1"/>
          </p:cNvPicPr>
          <p:nvPr/>
        </p:nvPicPr>
        <p:blipFill>
          <a:blip r:embed="rId3"/>
          <a:stretch>
            <a:fillRect/>
          </a:stretch>
        </p:blipFill>
        <p:spPr>
          <a:xfrm>
            <a:off x="2979204" y="-111760"/>
            <a:ext cx="8570391" cy="6858000"/>
          </a:xfrm>
          <a:prstGeom prst="rect">
            <a:avLst/>
          </a:prstGeom>
        </p:spPr>
      </p:pic>
    </p:spTree>
    <p:extLst>
      <p:ext uri="{BB962C8B-B14F-4D97-AF65-F5344CB8AC3E}">
        <p14:creationId xmlns:p14="http://schemas.microsoft.com/office/powerpoint/2010/main" val="3091912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89413C-5B81-42ED-866C-7288654CDDD9}"/>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04</a:t>
            </a:r>
          </a:p>
        </p:txBody>
      </p:sp>
      <p:pic>
        <p:nvPicPr>
          <p:cNvPr id="5" name="Picture 4">
            <a:extLst>
              <a:ext uri="{FF2B5EF4-FFF2-40B4-BE49-F238E27FC236}">
                <a16:creationId xmlns:a16="http://schemas.microsoft.com/office/drawing/2014/main" id="{00825CF5-5EE2-40BF-9BE3-030CA44EAA9B}"/>
              </a:ext>
            </a:extLst>
          </p:cNvPr>
          <p:cNvPicPr>
            <a:picLocks noChangeAspect="1"/>
          </p:cNvPicPr>
          <p:nvPr/>
        </p:nvPicPr>
        <p:blipFill>
          <a:blip r:embed="rId2"/>
          <a:stretch>
            <a:fillRect/>
          </a:stretch>
        </p:blipFill>
        <p:spPr>
          <a:xfrm>
            <a:off x="0" y="0"/>
            <a:ext cx="9283279" cy="6858000"/>
          </a:xfrm>
          <a:prstGeom prst="rect">
            <a:avLst/>
          </a:prstGeom>
        </p:spPr>
      </p:pic>
      <p:pic>
        <p:nvPicPr>
          <p:cNvPr id="6" name="Picture 5">
            <a:extLst>
              <a:ext uri="{FF2B5EF4-FFF2-40B4-BE49-F238E27FC236}">
                <a16:creationId xmlns:a16="http://schemas.microsoft.com/office/drawing/2014/main" id="{F5A56DFB-47FE-456B-908D-B40527C6DB19}"/>
              </a:ext>
            </a:extLst>
          </p:cNvPr>
          <p:cNvPicPr>
            <a:picLocks noChangeAspect="1"/>
          </p:cNvPicPr>
          <p:nvPr/>
        </p:nvPicPr>
        <p:blipFill>
          <a:blip r:embed="rId3"/>
          <a:stretch>
            <a:fillRect/>
          </a:stretch>
        </p:blipFill>
        <p:spPr>
          <a:xfrm>
            <a:off x="3032760" y="1196657"/>
            <a:ext cx="9296400" cy="5114925"/>
          </a:xfrm>
          <a:prstGeom prst="rect">
            <a:avLst/>
          </a:prstGeom>
        </p:spPr>
      </p:pic>
    </p:spTree>
    <p:extLst>
      <p:ext uri="{BB962C8B-B14F-4D97-AF65-F5344CB8AC3E}">
        <p14:creationId xmlns:p14="http://schemas.microsoft.com/office/powerpoint/2010/main" val="3634878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B246F9-BB39-48AB-BC00-94FF4D1DA3E1}"/>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05</a:t>
            </a:r>
          </a:p>
        </p:txBody>
      </p:sp>
      <p:pic>
        <p:nvPicPr>
          <p:cNvPr id="4" name="Picture 3">
            <a:extLst>
              <a:ext uri="{FF2B5EF4-FFF2-40B4-BE49-F238E27FC236}">
                <a16:creationId xmlns:a16="http://schemas.microsoft.com/office/drawing/2014/main" id="{FBD33258-F022-4918-8238-205BE4A089DC}"/>
              </a:ext>
            </a:extLst>
          </p:cNvPr>
          <p:cNvPicPr>
            <a:picLocks noChangeAspect="1"/>
          </p:cNvPicPr>
          <p:nvPr/>
        </p:nvPicPr>
        <p:blipFill>
          <a:blip r:embed="rId2"/>
          <a:stretch>
            <a:fillRect/>
          </a:stretch>
        </p:blipFill>
        <p:spPr>
          <a:xfrm>
            <a:off x="213321" y="0"/>
            <a:ext cx="8717357" cy="6858000"/>
          </a:xfrm>
          <a:prstGeom prst="rect">
            <a:avLst/>
          </a:prstGeom>
        </p:spPr>
      </p:pic>
      <p:pic>
        <p:nvPicPr>
          <p:cNvPr id="5" name="Picture 4">
            <a:extLst>
              <a:ext uri="{FF2B5EF4-FFF2-40B4-BE49-F238E27FC236}">
                <a16:creationId xmlns:a16="http://schemas.microsoft.com/office/drawing/2014/main" id="{60368ECF-79A7-4F33-A8FA-D799CC3A8F26}"/>
              </a:ext>
            </a:extLst>
          </p:cNvPr>
          <p:cNvPicPr>
            <a:picLocks noChangeAspect="1"/>
          </p:cNvPicPr>
          <p:nvPr/>
        </p:nvPicPr>
        <p:blipFill>
          <a:blip r:embed="rId3"/>
          <a:stretch>
            <a:fillRect/>
          </a:stretch>
        </p:blipFill>
        <p:spPr>
          <a:xfrm>
            <a:off x="2584132" y="955992"/>
            <a:ext cx="9705975" cy="5210175"/>
          </a:xfrm>
          <a:prstGeom prst="rect">
            <a:avLst/>
          </a:prstGeom>
        </p:spPr>
      </p:pic>
    </p:spTree>
    <p:extLst>
      <p:ext uri="{BB962C8B-B14F-4D97-AF65-F5344CB8AC3E}">
        <p14:creationId xmlns:p14="http://schemas.microsoft.com/office/powerpoint/2010/main" val="2971191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85D1F9-412E-4A7B-B791-428B1143273A}"/>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06</a:t>
            </a:r>
          </a:p>
        </p:txBody>
      </p:sp>
      <p:pic>
        <p:nvPicPr>
          <p:cNvPr id="4" name="Picture 3">
            <a:extLst>
              <a:ext uri="{FF2B5EF4-FFF2-40B4-BE49-F238E27FC236}">
                <a16:creationId xmlns:a16="http://schemas.microsoft.com/office/drawing/2014/main" id="{845633B7-1E81-4442-A90D-0307C99D87AE}"/>
              </a:ext>
            </a:extLst>
          </p:cNvPr>
          <p:cNvPicPr>
            <a:picLocks noChangeAspect="1"/>
          </p:cNvPicPr>
          <p:nvPr/>
        </p:nvPicPr>
        <p:blipFill>
          <a:blip r:embed="rId2"/>
          <a:stretch>
            <a:fillRect/>
          </a:stretch>
        </p:blipFill>
        <p:spPr>
          <a:xfrm>
            <a:off x="1841816" y="0"/>
            <a:ext cx="8508367" cy="6858000"/>
          </a:xfrm>
          <a:prstGeom prst="rect">
            <a:avLst/>
          </a:prstGeom>
        </p:spPr>
      </p:pic>
    </p:spTree>
    <p:extLst>
      <p:ext uri="{BB962C8B-B14F-4D97-AF65-F5344CB8AC3E}">
        <p14:creationId xmlns:p14="http://schemas.microsoft.com/office/powerpoint/2010/main" val="3948541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792B89-CA42-4198-B882-93EADBB35A82}"/>
              </a:ext>
            </a:extLst>
          </p:cNvPr>
          <p:cNvSpPr txBox="1"/>
          <p:nvPr/>
        </p:nvSpPr>
        <p:spPr>
          <a:xfrm>
            <a:off x="-1818640" y="-101600"/>
            <a:ext cx="1696720" cy="1200329"/>
          </a:xfrm>
          <a:prstGeom prst="rect">
            <a:avLst/>
          </a:prstGeom>
          <a:noFill/>
        </p:spPr>
        <p:txBody>
          <a:bodyPr wrap="square" rtlCol="0">
            <a:spAutoFit/>
          </a:bodyPr>
          <a:lstStyle/>
          <a:p>
            <a:pPr algn="ctr"/>
            <a:r>
              <a:rPr lang="en-US" sz="3600" b="1" dirty="0"/>
              <a:t>After step 07</a:t>
            </a:r>
          </a:p>
        </p:txBody>
      </p:sp>
      <p:pic>
        <p:nvPicPr>
          <p:cNvPr id="5" name="Picture 4">
            <a:extLst>
              <a:ext uri="{FF2B5EF4-FFF2-40B4-BE49-F238E27FC236}">
                <a16:creationId xmlns:a16="http://schemas.microsoft.com/office/drawing/2014/main" id="{099ACE1D-AA18-4897-96B1-D72C3F42B1D7}"/>
              </a:ext>
            </a:extLst>
          </p:cNvPr>
          <p:cNvPicPr>
            <a:picLocks noChangeAspect="1"/>
          </p:cNvPicPr>
          <p:nvPr/>
        </p:nvPicPr>
        <p:blipFill>
          <a:blip r:embed="rId2"/>
          <a:stretch>
            <a:fillRect/>
          </a:stretch>
        </p:blipFill>
        <p:spPr>
          <a:xfrm>
            <a:off x="1775460" y="0"/>
            <a:ext cx="8641080" cy="6858000"/>
          </a:xfrm>
          <a:prstGeom prst="rect">
            <a:avLst/>
          </a:prstGeom>
        </p:spPr>
      </p:pic>
    </p:spTree>
    <p:extLst>
      <p:ext uri="{BB962C8B-B14F-4D97-AF65-F5344CB8AC3E}">
        <p14:creationId xmlns:p14="http://schemas.microsoft.com/office/powerpoint/2010/main" val="828710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558</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Berlin Sans FB</vt:lpstr>
      <vt:lpstr>Calibri</vt:lpstr>
      <vt:lpstr>Calibri Light</vt:lpstr>
      <vt:lpstr>Wingdings</vt:lpstr>
      <vt:lpstr>Office Theme</vt:lpstr>
      <vt:lpstr>Project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dc:creator>Sanath Kumar Das 1706149</dc:creator>
  <cp:lastModifiedBy>1706149 - Sanath Kumar Das</cp:lastModifiedBy>
  <cp:revision>24</cp:revision>
  <dcterms:created xsi:type="dcterms:W3CDTF">2021-07-23T03:44:45Z</dcterms:created>
  <dcterms:modified xsi:type="dcterms:W3CDTF">2021-07-23T09:47:34Z</dcterms:modified>
</cp:coreProperties>
</file>