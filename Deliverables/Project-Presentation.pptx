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85" r:id="rId5"/>
    <p:sldId id="259" r:id="rId6"/>
    <p:sldId id="278" r:id="rId7"/>
    <p:sldId id="273" r:id="rId8"/>
    <p:sldId id="275" r:id="rId9"/>
    <p:sldId id="279" r:id="rId10"/>
    <p:sldId id="274" r:id="rId11"/>
    <p:sldId id="276" r:id="rId12"/>
    <p:sldId id="277" r:id="rId13"/>
    <p:sldId id="280" r:id="rId14"/>
    <p:sldId id="263" r:id="rId15"/>
    <p:sldId id="281" r:id="rId16"/>
    <p:sldId id="268" r:id="rId17"/>
    <p:sldId id="282" r:id="rId18"/>
    <p:sldId id="284" r:id="rId19"/>
    <p:sldId id="272" r:id="rId20"/>
    <p:sldId id="28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7B67"/>
    <a:srgbClr val="F34A15"/>
    <a:srgbClr val="2A3E84"/>
    <a:srgbClr val="1D1D6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48" autoAdjust="0"/>
    <p:restoredTop sz="94660"/>
  </p:normalViewPr>
  <p:slideViewPr>
    <p:cSldViewPr snapToGrid="0">
      <p:cViewPr varScale="1">
        <p:scale>
          <a:sx n="86" d="100"/>
          <a:sy n="86" d="100"/>
        </p:scale>
        <p:origin x="39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2610C-1CB4-4CA8-9C92-755BC733F5B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C136BA-83D2-460A-909C-EAA4E2BACA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4357E06-D446-4FE6-9FDF-867123980E0C}"/>
              </a:ext>
            </a:extLst>
          </p:cNvPr>
          <p:cNvSpPr>
            <a:spLocks noGrp="1"/>
          </p:cNvSpPr>
          <p:nvPr>
            <p:ph type="dt" sz="half" idx="10"/>
          </p:nvPr>
        </p:nvSpPr>
        <p:spPr/>
        <p:txBody>
          <a:bodyPr/>
          <a:lstStyle/>
          <a:p>
            <a:fld id="{AF6BB7A0-B413-4944-940A-D9C71B14BA6D}" type="datetimeFigureOut">
              <a:rPr lang="en-US" smtClean="0"/>
              <a:t>24-Jul-21</a:t>
            </a:fld>
            <a:endParaRPr lang="en-US"/>
          </a:p>
        </p:txBody>
      </p:sp>
      <p:sp>
        <p:nvSpPr>
          <p:cNvPr id="5" name="Footer Placeholder 4">
            <a:extLst>
              <a:ext uri="{FF2B5EF4-FFF2-40B4-BE49-F238E27FC236}">
                <a16:creationId xmlns:a16="http://schemas.microsoft.com/office/drawing/2014/main" id="{354857E4-72B0-4D8B-BBEB-EBFFA0C8B6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A0599A-E4A9-4D36-8435-A7A85336C123}"/>
              </a:ext>
            </a:extLst>
          </p:cNvPr>
          <p:cNvSpPr>
            <a:spLocks noGrp="1"/>
          </p:cNvSpPr>
          <p:nvPr>
            <p:ph type="sldNum" sz="quarter" idx="12"/>
          </p:nvPr>
        </p:nvSpPr>
        <p:spPr/>
        <p:txBody>
          <a:bodyPr/>
          <a:lstStyle/>
          <a:p>
            <a:fld id="{5D37C736-6173-4B5A-B7F4-73627DD6F3BD}" type="slidenum">
              <a:rPr lang="en-US" smtClean="0"/>
              <a:t>‹#›</a:t>
            </a:fld>
            <a:endParaRPr lang="en-US"/>
          </a:p>
        </p:txBody>
      </p:sp>
    </p:spTree>
    <p:extLst>
      <p:ext uri="{BB962C8B-B14F-4D97-AF65-F5344CB8AC3E}">
        <p14:creationId xmlns:p14="http://schemas.microsoft.com/office/powerpoint/2010/main" val="35044903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B353C-D3F7-447E-9877-29D28066DA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1E9176A-78DB-4EBA-8D8F-CB57EB20F20A}"/>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9EA0C8-AC80-4B64-9B34-44898C0A63F3}"/>
              </a:ext>
            </a:extLst>
          </p:cNvPr>
          <p:cNvSpPr>
            <a:spLocks noGrp="1"/>
          </p:cNvSpPr>
          <p:nvPr>
            <p:ph type="dt" sz="half" idx="10"/>
          </p:nvPr>
        </p:nvSpPr>
        <p:spPr/>
        <p:txBody>
          <a:bodyPr/>
          <a:lstStyle/>
          <a:p>
            <a:fld id="{AF6BB7A0-B413-4944-940A-D9C71B14BA6D}" type="datetimeFigureOut">
              <a:rPr lang="en-US" smtClean="0"/>
              <a:t>24-Jul-21</a:t>
            </a:fld>
            <a:endParaRPr lang="en-US"/>
          </a:p>
        </p:txBody>
      </p:sp>
      <p:sp>
        <p:nvSpPr>
          <p:cNvPr id="5" name="Footer Placeholder 4">
            <a:extLst>
              <a:ext uri="{FF2B5EF4-FFF2-40B4-BE49-F238E27FC236}">
                <a16:creationId xmlns:a16="http://schemas.microsoft.com/office/drawing/2014/main" id="{2DF69471-5A1F-409E-B257-6D504C271A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014565-0F96-4AEB-968B-4FC44A1933FE}"/>
              </a:ext>
            </a:extLst>
          </p:cNvPr>
          <p:cNvSpPr>
            <a:spLocks noGrp="1"/>
          </p:cNvSpPr>
          <p:nvPr>
            <p:ph type="sldNum" sz="quarter" idx="12"/>
          </p:nvPr>
        </p:nvSpPr>
        <p:spPr/>
        <p:txBody>
          <a:bodyPr/>
          <a:lstStyle/>
          <a:p>
            <a:fld id="{5D37C736-6173-4B5A-B7F4-73627DD6F3BD}" type="slidenum">
              <a:rPr lang="en-US" smtClean="0"/>
              <a:t>‹#›</a:t>
            </a:fld>
            <a:endParaRPr lang="en-US"/>
          </a:p>
        </p:txBody>
      </p:sp>
    </p:spTree>
    <p:extLst>
      <p:ext uri="{BB962C8B-B14F-4D97-AF65-F5344CB8AC3E}">
        <p14:creationId xmlns:p14="http://schemas.microsoft.com/office/powerpoint/2010/main" val="28403424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239F3-E0A3-40FB-8CD7-74B391C84A9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6B17D88-5B2A-48EB-9B71-FABC31990AF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6C4A24C-A39A-4CA4-8877-3C1E5892561F}"/>
              </a:ext>
            </a:extLst>
          </p:cNvPr>
          <p:cNvSpPr>
            <a:spLocks noGrp="1"/>
          </p:cNvSpPr>
          <p:nvPr>
            <p:ph type="dt" sz="half" idx="10"/>
          </p:nvPr>
        </p:nvSpPr>
        <p:spPr/>
        <p:txBody>
          <a:bodyPr/>
          <a:lstStyle/>
          <a:p>
            <a:fld id="{AF6BB7A0-B413-4944-940A-D9C71B14BA6D}" type="datetimeFigureOut">
              <a:rPr lang="en-US" smtClean="0"/>
              <a:t>24-Jul-21</a:t>
            </a:fld>
            <a:endParaRPr lang="en-US"/>
          </a:p>
        </p:txBody>
      </p:sp>
      <p:sp>
        <p:nvSpPr>
          <p:cNvPr id="5" name="Footer Placeholder 4">
            <a:extLst>
              <a:ext uri="{FF2B5EF4-FFF2-40B4-BE49-F238E27FC236}">
                <a16:creationId xmlns:a16="http://schemas.microsoft.com/office/drawing/2014/main" id="{1F807EEB-D536-42DF-880E-169088C47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52D263-772C-4244-AC0E-1CDBD2CCAC34}"/>
              </a:ext>
            </a:extLst>
          </p:cNvPr>
          <p:cNvSpPr>
            <a:spLocks noGrp="1"/>
          </p:cNvSpPr>
          <p:nvPr>
            <p:ph type="sldNum" sz="quarter" idx="12"/>
          </p:nvPr>
        </p:nvSpPr>
        <p:spPr/>
        <p:txBody>
          <a:bodyPr/>
          <a:lstStyle/>
          <a:p>
            <a:fld id="{5D37C736-6173-4B5A-B7F4-73627DD6F3BD}" type="slidenum">
              <a:rPr lang="en-US" smtClean="0"/>
              <a:t>‹#›</a:t>
            </a:fld>
            <a:endParaRPr lang="en-US"/>
          </a:p>
        </p:txBody>
      </p:sp>
    </p:spTree>
    <p:extLst>
      <p:ext uri="{BB962C8B-B14F-4D97-AF65-F5344CB8AC3E}">
        <p14:creationId xmlns:p14="http://schemas.microsoft.com/office/powerpoint/2010/main" val="704411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7AEEB-527E-4310-9847-59E2B015172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D4AC938-521C-4F32-8587-A5B1578BD77C}"/>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959F171-55F7-49EB-8944-0C0E4DD830B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A8114B5-A64A-4474-823A-CC9A0DB5E6D3}"/>
              </a:ext>
            </a:extLst>
          </p:cNvPr>
          <p:cNvSpPr>
            <a:spLocks noGrp="1"/>
          </p:cNvSpPr>
          <p:nvPr>
            <p:ph type="dt" sz="half" idx="10"/>
          </p:nvPr>
        </p:nvSpPr>
        <p:spPr/>
        <p:txBody>
          <a:bodyPr/>
          <a:lstStyle/>
          <a:p>
            <a:fld id="{AF6BB7A0-B413-4944-940A-D9C71B14BA6D}" type="datetimeFigureOut">
              <a:rPr lang="en-US" smtClean="0"/>
              <a:t>24-Jul-21</a:t>
            </a:fld>
            <a:endParaRPr lang="en-US"/>
          </a:p>
        </p:txBody>
      </p:sp>
      <p:sp>
        <p:nvSpPr>
          <p:cNvPr id="6" name="Footer Placeholder 5">
            <a:extLst>
              <a:ext uri="{FF2B5EF4-FFF2-40B4-BE49-F238E27FC236}">
                <a16:creationId xmlns:a16="http://schemas.microsoft.com/office/drawing/2014/main" id="{652DD429-F702-4FAA-BF70-422876B3DCF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62AD20-F3D7-4A02-8160-052552C7D646}"/>
              </a:ext>
            </a:extLst>
          </p:cNvPr>
          <p:cNvSpPr>
            <a:spLocks noGrp="1"/>
          </p:cNvSpPr>
          <p:nvPr>
            <p:ph type="sldNum" sz="quarter" idx="12"/>
          </p:nvPr>
        </p:nvSpPr>
        <p:spPr/>
        <p:txBody>
          <a:bodyPr/>
          <a:lstStyle/>
          <a:p>
            <a:fld id="{5D37C736-6173-4B5A-B7F4-73627DD6F3BD}" type="slidenum">
              <a:rPr lang="en-US" smtClean="0"/>
              <a:t>‹#›</a:t>
            </a:fld>
            <a:endParaRPr lang="en-US"/>
          </a:p>
        </p:txBody>
      </p:sp>
    </p:spTree>
    <p:extLst>
      <p:ext uri="{BB962C8B-B14F-4D97-AF65-F5344CB8AC3E}">
        <p14:creationId xmlns:p14="http://schemas.microsoft.com/office/powerpoint/2010/main" val="6800491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70099-0AE2-4046-8086-2872F846A70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785285A-C9E9-47E6-8A03-B922D58F37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FF24C6E-0103-4966-98B8-FD3C6F6764D1}"/>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463EFCE-410D-4010-AFFC-62B2D835639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B4D1AD3A-5460-4D43-B09B-E50EF788AB0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32FD403-1076-4142-8895-192607F09439}"/>
              </a:ext>
            </a:extLst>
          </p:cNvPr>
          <p:cNvSpPr>
            <a:spLocks noGrp="1"/>
          </p:cNvSpPr>
          <p:nvPr>
            <p:ph type="dt" sz="half" idx="10"/>
          </p:nvPr>
        </p:nvSpPr>
        <p:spPr/>
        <p:txBody>
          <a:bodyPr/>
          <a:lstStyle/>
          <a:p>
            <a:fld id="{AF6BB7A0-B413-4944-940A-D9C71B14BA6D}" type="datetimeFigureOut">
              <a:rPr lang="en-US" smtClean="0"/>
              <a:t>24-Jul-21</a:t>
            </a:fld>
            <a:endParaRPr lang="en-US"/>
          </a:p>
        </p:txBody>
      </p:sp>
      <p:sp>
        <p:nvSpPr>
          <p:cNvPr id="8" name="Footer Placeholder 7">
            <a:extLst>
              <a:ext uri="{FF2B5EF4-FFF2-40B4-BE49-F238E27FC236}">
                <a16:creationId xmlns:a16="http://schemas.microsoft.com/office/drawing/2014/main" id="{4BDF1412-08C5-4994-BA44-69F01D5A7E8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57335DB-D055-4B80-8417-9C575664B251}"/>
              </a:ext>
            </a:extLst>
          </p:cNvPr>
          <p:cNvSpPr>
            <a:spLocks noGrp="1"/>
          </p:cNvSpPr>
          <p:nvPr>
            <p:ph type="sldNum" sz="quarter" idx="12"/>
          </p:nvPr>
        </p:nvSpPr>
        <p:spPr/>
        <p:txBody>
          <a:bodyPr/>
          <a:lstStyle/>
          <a:p>
            <a:fld id="{5D37C736-6173-4B5A-B7F4-73627DD6F3BD}" type="slidenum">
              <a:rPr lang="en-US" smtClean="0"/>
              <a:t>‹#›</a:t>
            </a:fld>
            <a:endParaRPr lang="en-US"/>
          </a:p>
        </p:txBody>
      </p:sp>
    </p:spTree>
    <p:extLst>
      <p:ext uri="{BB962C8B-B14F-4D97-AF65-F5344CB8AC3E}">
        <p14:creationId xmlns:p14="http://schemas.microsoft.com/office/powerpoint/2010/main" val="3370707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07B11-0365-494B-89A3-912FE171653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E0B3EC3-5339-4E0C-A325-00EBBBFB7D98}"/>
              </a:ext>
            </a:extLst>
          </p:cNvPr>
          <p:cNvSpPr>
            <a:spLocks noGrp="1"/>
          </p:cNvSpPr>
          <p:nvPr>
            <p:ph type="dt" sz="half" idx="10"/>
          </p:nvPr>
        </p:nvSpPr>
        <p:spPr/>
        <p:txBody>
          <a:bodyPr/>
          <a:lstStyle/>
          <a:p>
            <a:fld id="{AF6BB7A0-B413-4944-940A-D9C71B14BA6D}" type="datetimeFigureOut">
              <a:rPr lang="en-US" smtClean="0"/>
              <a:t>24-Jul-21</a:t>
            </a:fld>
            <a:endParaRPr lang="en-US"/>
          </a:p>
        </p:txBody>
      </p:sp>
      <p:sp>
        <p:nvSpPr>
          <p:cNvPr id="4" name="Footer Placeholder 3">
            <a:extLst>
              <a:ext uri="{FF2B5EF4-FFF2-40B4-BE49-F238E27FC236}">
                <a16:creationId xmlns:a16="http://schemas.microsoft.com/office/drawing/2014/main" id="{C2ACB521-BE0F-448B-9C89-427CBD7D86D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3541E32-00D7-4061-A281-51F6527BB9D4}"/>
              </a:ext>
            </a:extLst>
          </p:cNvPr>
          <p:cNvSpPr>
            <a:spLocks noGrp="1"/>
          </p:cNvSpPr>
          <p:nvPr>
            <p:ph type="sldNum" sz="quarter" idx="12"/>
          </p:nvPr>
        </p:nvSpPr>
        <p:spPr/>
        <p:txBody>
          <a:bodyPr/>
          <a:lstStyle/>
          <a:p>
            <a:fld id="{5D37C736-6173-4B5A-B7F4-73627DD6F3BD}" type="slidenum">
              <a:rPr lang="en-US" smtClean="0"/>
              <a:t>‹#›</a:t>
            </a:fld>
            <a:endParaRPr lang="en-US"/>
          </a:p>
        </p:txBody>
      </p:sp>
    </p:spTree>
    <p:extLst>
      <p:ext uri="{BB962C8B-B14F-4D97-AF65-F5344CB8AC3E}">
        <p14:creationId xmlns:p14="http://schemas.microsoft.com/office/powerpoint/2010/main" val="20411891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387AF1-8D1A-464E-BFAB-CC8132192AA5}"/>
              </a:ext>
            </a:extLst>
          </p:cNvPr>
          <p:cNvSpPr>
            <a:spLocks noGrp="1"/>
          </p:cNvSpPr>
          <p:nvPr>
            <p:ph type="dt" sz="half" idx="10"/>
          </p:nvPr>
        </p:nvSpPr>
        <p:spPr/>
        <p:txBody>
          <a:bodyPr/>
          <a:lstStyle/>
          <a:p>
            <a:fld id="{AF6BB7A0-B413-4944-940A-D9C71B14BA6D}" type="datetimeFigureOut">
              <a:rPr lang="en-US" smtClean="0"/>
              <a:t>24-Jul-21</a:t>
            </a:fld>
            <a:endParaRPr lang="en-US"/>
          </a:p>
        </p:txBody>
      </p:sp>
      <p:sp>
        <p:nvSpPr>
          <p:cNvPr id="3" name="Footer Placeholder 2">
            <a:extLst>
              <a:ext uri="{FF2B5EF4-FFF2-40B4-BE49-F238E27FC236}">
                <a16:creationId xmlns:a16="http://schemas.microsoft.com/office/drawing/2014/main" id="{5FBC81E5-1443-4D1A-B418-A6AB487E16A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D0587CD-B781-4B71-83EB-43CF1F7369F2}"/>
              </a:ext>
            </a:extLst>
          </p:cNvPr>
          <p:cNvSpPr>
            <a:spLocks noGrp="1"/>
          </p:cNvSpPr>
          <p:nvPr>
            <p:ph type="sldNum" sz="quarter" idx="12"/>
          </p:nvPr>
        </p:nvSpPr>
        <p:spPr/>
        <p:txBody>
          <a:bodyPr/>
          <a:lstStyle/>
          <a:p>
            <a:fld id="{5D37C736-6173-4B5A-B7F4-73627DD6F3BD}" type="slidenum">
              <a:rPr lang="en-US" smtClean="0"/>
              <a:t>‹#›</a:t>
            </a:fld>
            <a:endParaRPr lang="en-US"/>
          </a:p>
        </p:txBody>
      </p:sp>
    </p:spTree>
    <p:extLst>
      <p:ext uri="{BB962C8B-B14F-4D97-AF65-F5344CB8AC3E}">
        <p14:creationId xmlns:p14="http://schemas.microsoft.com/office/powerpoint/2010/main" val="2361592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11AD8-3093-4756-B599-1F0679278C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D2CB4DC-4CC9-441B-B0E1-E332BEF26CD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5A06FCB-4409-45B9-B589-EA166D249C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0539585-63B7-4A8B-8A3B-651AB5A713FC}"/>
              </a:ext>
            </a:extLst>
          </p:cNvPr>
          <p:cNvSpPr>
            <a:spLocks noGrp="1"/>
          </p:cNvSpPr>
          <p:nvPr>
            <p:ph type="dt" sz="half" idx="10"/>
          </p:nvPr>
        </p:nvSpPr>
        <p:spPr/>
        <p:txBody>
          <a:bodyPr/>
          <a:lstStyle/>
          <a:p>
            <a:fld id="{AF6BB7A0-B413-4944-940A-D9C71B14BA6D}" type="datetimeFigureOut">
              <a:rPr lang="en-US" smtClean="0"/>
              <a:t>24-Jul-21</a:t>
            </a:fld>
            <a:endParaRPr lang="en-US"/>
          </a:p>
        </p:txBody>
      </p:sp>
      <p:sp>
        <p:nvSpPr>
          <p:cNvPr id="6" name="Footer Placeholder 5">
            <a:extLst>
              <a:ext uri="{FF2B5EF4-FFF2-40B4-BE49-F238E27FC236}">
                <a16:creationId xmlns:a16="http://schemas.microsoft.com/office/drawing/2014/main" id="{002E1F63-3E94-48EA-91DD-17F7DBF9CB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8CF1E1-AF2C-4A7A-9D9B-6E5791F89194}"/>
              </a:ext>
            </a:extLst>
          </p:cNvPr>
          <p:cNvSpPr>
            <a:spLocks noGrp="1"/>
          </p:cNvSpPr>
          <p:nvPr>
            <p:ph type="sldNum" sz="quarter" idx="12"/>
          </p:nvPr>
        </p:nvSpPr>
        <p:spPr/>
        <p:txBody>
          <a:bodyPr/>
          <a:lstStyle/>
          <a:p>
            <a:fld id="{5D37C736-6173-4B5A-B7F4-73627DD6F3BD}" type="slidenum">
              <a:rPr lang="en-US" smtClean="0"/>
              <a:t>‹#›</a:t>
            </a:fld>
            <a:endParaRPr lang="en-US"/>
          </a:p>
        </p:txBody>
      </p:sp>
    </p:spTree>
    <p:extLst>
      <p:ext uri="{BB962C8B-B14F-4D97-AF65-F5344CB8AC3E}">
        <p14:creationId xmlns:p14="http://schemas.microsoft.com/office/powerpoint/2010/main" val="2789741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8A646-3F05-41BD-BA9D-6A60668CF1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6CAFC74-62AE-4F3C-95CC-0CFF570091B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14363BE-8AEC-4DD2-A264-30B5E6F6C8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F8A4468-B1BE-43E6-8A25-ABCA51F52EA2}"/>
              </a:ext>
            </a:extLst>
          </p:cNvPr>
          <p:cNvSpPr>
            <a:spLocks noGrp="1"/>
          </p:cNvSpPr>
          <p:nvPr>
            <p:ph type="dt" sz="half" idx="10"/>
          </p:nvPr>
        </p:nvSpPr>
        <p:spPr/>
        <p:txBody>
          <a:bodyPr/>
          <a:lstStyle/>
          <a:p>
            <a:fld id="{AF6BB7A0-B413-4944-940A-D9C71B14BA6D}" type="datetimeFigureOut">
              <a:rPr lang="en-US" smtClean="0"/>
              <a:t>24-Jul-21</a:t>
            </a:fld>
            <a:endParaRPr lang="en-US"/>
          </a:p>
        </p:txBody>
      </p:sp>
      <p:sp>
        <p:nvSpPr>
          <p:cNvPr id="6" name="Footer Placeholder 5">
            <a:extLst>
              <a:ext uri="{FF2B5EF4-FFF2-40B4-BE49-F238E27FC236}">
                <a16:creationId xmlns:a16="http://schemas.microsoft.com/office/drawing/2014/main" id="{9D4281D3-08A9-41F0-95E6-5F75E9E1A51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1B9076-71A4-4769-B7E2-B207BF2932F4}"/>
              </a:ext>
            </a:extLst>
          </p:cNvPr>
          <p:cNvSpPr>
            <a:spLocks noGrp="1"/>
          </p:cNvSpPr>
          <p:nvPr>
            <p:ph type="sldNum" sz="quarter" idx="12"/>
          </p:nvPr>
        </p:nvSpPr>
        <p:spPr/>
        <p:txBody>
          <a:bodyPr/>
          <a:lstStyle/>
          <a:p>
            <a:fld id="{5D37C736-6173-4B5A-B7F4-73627DD6F3BD}" type="slidenum">
              <a:rPr lang="en-US" smtClean="0"/>
              <a:t>‹#›</a:t>
            </a:fld>
            <a:endParaRPr lang="en-US"/>
          </a:p>
        </p:txBody>
      </p:sp>
    </p:spTree>
    <p:extLst>
      <p:ext uri="{BB962C8B-B14F-4D97-AF65-F5344CB8AC3E}">
        <p14:creationId xmlns:p14="http://schemas.microsoft.com/office/powerpoint/2010/main" val="2760600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14551-A5A8-4F7F-B102-64C66687925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9178FF0-EDC1-4649-993E-F1C1A4CD18A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060A0A-1E3F-4159-9BAE-9DD1FF2D7B30}"/>
              </a:ext>
            </a:extLst>
          </p:cNvPr>
          <p:cNvSpPr>
            <a:spLocks noGrp="1"/>
          </p:cNvSpPr>
          <p:nvPr>
            <p:ph type="dt" sz="half" idx="10"/>
          </p:nvPr>
        </p:nvSpPr>
        <p:spPr/>
        <p:txBody>
          <a:bodyPr/>
          <a:lstStyle/>
          <a:p>
            <a:fld id="{AF6BB7A0-B413-4944-940A-D9C71B14BA6D}" type="datetimeFigureOut">
              <a:rPr lang="en-US" smtClean="0"/>
              <a:t>24-Jul-21</a:t>
            </a:fld>
            <a:endParaRPr lang="en-US"/>
          </a:p>
        </p:txBody>
      </p:sp>
      <p:sp>
        <p:nvSpPr>
          <p:cNvPr id="5" name="Footer Placeholder 4">
            <a:extLst>
              <a:ext uri="{FF2B5EF4-FFF2-40B4-BE49-F238E27FC236}">
                <a16:creationId xmlns:a16="http://schemas.microsoft.com/office/drawing/2014/main" id="{3807B1C8-9FA3-4207-B873-BE7F8F9A68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D839AA-58FF-471C-8975-6751F685CD26}"/>
              </a:ext>
            </a:extLst>
          </p:cNvPr>
          <p:cNvSpPr>
            <a:spLocks noGrp="1"/>
          </p:cNvSpPr>
          <p:nvPr>
            <p:ph type="sldNum" sz="quarter" idx="12"/>
          </p:nvPr>
        </p:nvSpPr>
        <p:spPr/>
        <p:txBody>
          <a:bodyPr/>
          <a:lstStyle/>
          <a:p>
            <a:fld id="{5D37C736-6173-4B5A-B7F4-73627DD6F3BD}" type="slidenum">
              <a:rPr lang="en-US" smtClean="0"/>
              <a:t>‹#›</a:t>
            </a:fld>
            <a:endParaRPr lang="en-US"/>
          </a:p>
        </p:txBody>
      </p:sp>
    </p:spTree>
    <p:extLst>
      <p:ext uri="{BB962C8B-B14F-4D97-AF65-F5344CB8AC3E}">
        <p14:creationId xmlns:p14="http://schemas.microsoft.com/office/powerpoint/2010/main" val="23178343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0954D6-8F8E-4B98-B933-BA81F2F7540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C3517CE-41D9-46F7-BE17-9E300CF59115}"/>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F15BD-BA0E-4152-8A8A-FEACCA95F50F}"/>
              </a:ext>
            </a:extLst>
          </p:cNvPr>
          <p:cNvSpPr>
            <a:spLocks noGrp="1"/>
          </p:cNvSpPr>
          <p:nvPr>
            <p:ph type="dt" sz="half" idx="10"/>
          </p:nvPr>
        </p:nvSpPr>
        <p:spPr/>
        <p:txBody>
          <a:bodyPr/>
          <a:lstStyle/>
          <a:p>
            <a:fld id="{AF6BB7A0-B413-4944-940A-D9C71B14BA6D}" type="datetimeFigureOut">
              <a:rPr lang="en-US" smtClean="0"/>
              <a:t>24-Jul-21</a:t>
            </a:fld>
            <a:endParaRPr lang="en-US"/>
          </a:p>
        </p:txBody>
      </p:sp>
      <p:sp>
        <p:nvSpPr>
          <p:cNvPr id="5" name="Footer Placeholder 4">
            <a:extLst>
              <a:ext uri="{FF2B5EF4-FFF2-40B4-BE49-F238E27FC236}">
                <a16:creationId xmlns:a16="http://schemas.microsoft.com/office/drawing/2014/main" id="{31D42A3B-2604-46D8-89A7-7CE8CA7BFB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F16203-1EA3-4218-9934-DFF3BBD08719}"/>
              </a:ext>
            </a:extLst>
          </p:cNvPr>
          <p:cNvSpPr>
            <a:spLocks noGrp="1"/>
          </p:cNvSpPr>
          <p:nvPr>
            <p:ph type="sldNum" sz="quarter" idx="12"/>
          </p:nvPr>
        </p:nvSpPr>
        <p:spPr/>
        <p:txBody>
          <a:bodyPr/>
          <a:lstStyle/>
          <a:p>
            <a:fld id="{5D37C736-6173-4B5A-B7F4-73627DD6F3BD}" type="slidenum">
              <a:rPr lang="en-US" smtClean="0"/>
              <a:t>‹#›</a:t>
            </a:fld>
            <a:endParaRPr lang="en-US"/>
          </a:p>
        </p:txBody>
      </p:sp>
    </p:spTree>
    <p:extLst>
      <p:ext uri="{BB962C8B-B14F-4D97-AF65-F5344CB8AC3E}">
        <p14:creationId xmlns:p14="http://schemas.microsoft.com/office/powerpoint/2010/main" val="1651845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4C46393-677D-45FA-870C-691E5D7F2B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585D11D-AD7F-4E61-B1CB-100C500093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7E2AE0-DEDC-4747-9DDF-2EA56E8F2B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6BB7A0-B413-4944-940A-D9C71B14BA6D}" type="datetimeFigureOut">
              <a:rPr lang="en-US" smtClean="0"/>
              <a:t>24-Jul-21</a:t>
            </a:fld>
            <a:endParaRPr lang="en-US"/>
          </a:p>
        </p:txBody>
      </p:sp>
      <p:sp>
        <p:nvSpPr>
          <p:cNvPr id="5" name="Footer Placeholder 4">
            <a:extLst>
              <a:ext uri="{FF2B5EF4-FFF2-40B4-BE49-F238E27FC236}">
                <a16:creationId xmlns:a16="http://schemas.microsoft.com/office/drawing/2014/main" id="{DAAD9A1C-85BD-4CBC-A315-F68961BAD2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3982506-1731-4A61-867D-D1E5F6C3A6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37C736-6173-4B5A-B7F4-73627DD6F3BD}" type="slidenum">
              <a:rPr lang="en-US" smtClean="0"/>
              <a:t>‹#›</a:t>
            </a:fld>
            <a:endParaRPr lang="en-US"/>
          </a:p>
        </p:txBody>
      </p:sp>
    </p:spTree>
    <p:extLst>
      <p:ext uri="{BB962C8B-B14F-4D97-AF65-F5344CB8AC3E}">
        <p14:creationId xmlns:p14="http://schemas.microsoft.com/office/powerpoint/2010/main" val="29115512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ower System Advisory">
            <a:extLst>
              <a:ext uri="{FF2B5EF4-FFF2-40B4-BE49-F238E27FC236}">
                <a16:creationId xmlns:a16="http://schemas.microsoft.com/office/drawing/2014/main" id="{AAB75842-C971-492C-8D68-2E298367EC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37" y="-142876"/>
            <a:ext cx="12215674" cy="716343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3956DF1B-9630-4429-9A34-E547CB2DBCF2}"/>
              </a:ext>
            </a:extLst>
          </p:cNvPr>
          <p:cNvSpPr>
            <a:spLocks noGrp="1"/>
          </p:cNvSpPr>
          <p:nvPr>
            <p:ph type="ctrTitle"/>
          </p:nvPr>
        </p:nvSpPr>
        <p:spPr>
          <a:xfrm>
            <a:off x="1523999" y="901701"/>
            <a:ext cx="9144000" cy="995363"/>
          </a:xfrm>
          <a:gradFill flip="none" rotWithShape="1">
            <a:gsLst>
              <a:gs pos="0">
                <a:srgbClr val="FFFF00"/>
              </a:gs>
              <a:gs pos="100000">
                <a:schemeClr val="accent1">
                  <a:lumMod val="75000"/>
                  <a:alpha val="66000"/>
                </a:schemeClr>
              </a:gs>
            </a:gsLst>
            <a:path path="circle">
              <a:fillToRect r="100000" b="100000"/>
            </a:path>
            <a:tileRect l="-100000" t="-100000"/>
          </a:gradFill>
        </p:spPr>
        <p:txBody>
          <a:bodyPr>
            <a:normAutofit fontScale="90000"/>
          </a:bodyPr>
          <a:lstStyle/>
          <a:p>
            <a:r>
              <a:rPr lang="en-US" sz="6600" dirty="0">
                <a:solidFill>
                  <a:srgbClr val="FF0000"/>
                </a:solidFill>
                <a:latin typeface="Berlin Sans FB" panose="020E0602020502020306" pitchFamily="34" charset="0"/>
              </a:rPr>
              <a:t>Project Presentation</a:t>
            </a:r>
          </a:p>
        </p:txBody>
      </p:sp>
      <p:sp>
        <p:nvSpPr>
          <p:cNvPr id="3" name="Subtitle 2">
            <a:extLst>
              <a:ext uri="{FF2B5EF4-FFF2-40B4-BE49-F238E27FC236}">
                <a16:creationId xmlns:a16="http://schemas.microsoft.com/office/drawing/2014/main" id="{5E4F1728-68D2-4E4A-885C-99221FB3E807}"/>
              </a:ext>
            </a:extLst>
          </p:cNvPr>
          <p:cNvSpPr>
            <a:spLocks noGrp="1"/>
          </p:cNvSpPr>
          <p:nvPr>
            <p:ph type="subTitle" idx="1"/>
          </p:nvPr>
        </p:nvSpPr>
        <p:spPr>
          <a:xfrm>
            <a:off x="2328862" y="2066132"/>
            <a:ext cx="7534275" cy="2048668"/>
          </a:xfrm>
          <a:gradFill>
            <a:gsLst>
              <a:gs pos="0">
                <a:srgbClr val="FFFF00"/>
              </a:gs>
              <a:gs pos="100000">
                <a:schemeClr val="accent1">
                  <a:lumMod val="75000"/>
                  <a:alpha val="53000"/>
                </a:schemeClr>
              </a:gs>
            </a:gsLst>
            <a:path path="circle">
              <a:fillToRect r="100000" b="100000"/>
            </a:path>
          </a:gradFill>
        </p:spPr>
        <p:txBody>
          <a:bodyPr>
            <a:normAutofit lnSpcReduction="10000"/>
          </a:bodyPr>
          <a:lstStyle/>
          <a:p>
            <a:r>
              <a:rPr lang="en-US" sz="4400" dirty="0">
                <a:solidFill>
                  <a:srgbClr val="FF0000"/>
                </a:solidFill>
                <a:latin typeface="Berlin Sans FB" panose="020E0602020502020306" pitchFamily="34" charset="0"/>
              </a:rPr>
              <a:t>EEE 306</a:t>
            </a:r>
          </a:p>
          <a:p>
            <a:r>
              <a:rPr lang="en-US" sz="4400" dirty="0">
                <a:solidFill>
                  <a:srgbClr val="FF0000"/>
                </a:solidFill>
                <a:latin typeface="Berlin Sans FB" panose="020E0602020502020306" pitchFamily="34" charset="0"/>
              </a:rPr>
              <a:t>Power System Laboratory</a:t>
            </a:r>
          </a:p>
          <a:p>
            <a:r>
              <a:rPr lang="en-US" sz="4400" dirty="0">
                <a:solidFill>
                  <a:srgbClr val="FF0000"/>
                </a:solidFill>
                <a:latin typeface="Berlin Sans FB" panose="020E0602020502020306" pitchFamily="34" charset="0"/>
              </a:rPr>
              <a:t>Group: 06</a:t>
            </a:r>
          </a:p>
        </p:txBody>
      </p:sp>
    </p:spTree>
    <p:extLst>
      <p:ext uri="{BB962C8B-B14F-4D97-AF65-F5344CB8AC3E}">
        <p14:creationId xmlns:p14="http://schemas.microsoft.com/office/powerpoint/2010/main" val="7563082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AFC299-98A8-49B9-AEC1-35B1EBF80C47}"/>
              </a:ext>
            </a:extLst>
          </p:cNvPr>
          <p:cNvSpPr txBox="1"/>
          <p:nvPr/>
        </p:nvSpPr>
        <p:spPr>
          <a:xfrm>
            <a:off x="1442720" y="0"/>
            <a:ext cx="8961120" cy="954107"/>
          </a:xfrm>
          <a:prstGeom prst="rect">
            <a:avLst/>
          </a:prstGeom>
          <a:noFill/>
        </p:spPr>
        <p:txBody>
          <a:bodyPr wrap="square" rtlCol="0">
            <a:spAutoFit/>
          </a:bodyPr>
          <a:lstStyle/>
          <a:p>
            <a:pPr algn="ctr"/>
            <a:r>
              <a:rPr lang="en-US" sz="2800" dirty="0">
                <a:latin typeface="Berlin Sans FB" panose="020E0602020502020306" pitchFamily="34" charset="0"/>
              </a:rPr>
              <a:t>Load Flow Analysis on</a:t>
            </a:r>
          </a:p>
          <a:p>
            <a:pPr algn="ctr"/>
            <a:r>
              <a:rPr lang="en-US" sz="2800" dirty="0">
                <a:latin typeface="Berlin Sans FB" panose="020E0602020502020306" pitchFamily="34" charset="0"/>
              </a:rPr>
              <a:t> IEEE 39 Bus System at 50Hz</a:t>
            </a:r>
          </a:p>
        </p:txBody>
      </p:sp>
      <p:pic>
        <p:nvPicPr>
          <p:cNvPr id="3" name="Picture 2">
            <a:extLst>
              <a:ext uri="{FF2B5EF4-FFF2-40B4-BE49-F238E27FC236}">
                <a16:creationId xmlns:a16="http://schemas.microsoft.com/office/drawing/2014/main" id="{FAA45054-69F7-4A58-A0E9-3E65CA0AA52C}"/>
              </a:ext>
            </a:extLst>
          </p:cNvPr>
          <p:cNvPicPr>
            <a:picLocks noChangeAspect="1"/>
          </p:cNvPicPr>
          <p:nvPr/>
        </p:nvPicPr>
        <p:blipFill>
          <a:blip r:embed="rId2"/>
          <a:stretch>
            <a:fillRect/>
          </a:stretch>
        </p:blipFill>
        <p:spPr>
          <a:xfrm>
            <a:off x="3007359" y="853440"/>
            <a:ext cx="6576497" cy="6004560"/>
          </a:xfrm>
          <a:prstGeom prst="rect">
            <a:avLst/>
          </a:prstGeom>
        </p:spPr>
      </p:pic>
    </p:spTree>
    <p:extLst>
      <p:ext uri="{BB962C8B-B14F-4D97-AF65-F5344CB8AC3E}">
        <p14:creationId xmlns:p14="http://schemas.microsoft.com/office/powerpoint/2010/main" val="20195578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7F31BFAC-355D-41E3-A8AA-AD7C9AEBEF18}"/>
              </a:ext>
            </a:extLst>
          </p:cNvPr>
          <p:cNvSpPr/>
          <p:nvPr/>
        </p:nvSpPr>
        <p:spPr>
          <a:xfrm>
            <a:off x="4622800" y="146110"/>
            <a:ext cx="2540000" cy="646370"/>
          </a:xfrm>
          <a:prstGeom prst="roundRect">
            <a:avLst/>
          </a:prstGeom>
          <a:solidFill>
            <a:srgbClr val="F57B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291EB97-9373-4813-8CA1-B1361D9F7173}"/>
              </a:ext>
            </a:extLst>
          </p:cNvPr>
          <p:cNvSpPr txBox="1"/>
          <p:nvPr/>
        </p:nvSpPr>
        <p:spPr>
          <a:xfrm>
            <a:off x="4709160" y="207685"/>
            <a:ext cx="2453640" cy="523220"/>
          </a:xfrm>
          <a:prstGeom prst="rect">
            <a:avLst/>
          </a:prstGeom>
          <a:noFill/>
        </p:spPr>
        <p:txBody>
          <a:bodyPr wrap="square" rtlCol="0">
            <a:spAutoFit/>
          </a:bodyPr>
          <a:lstStyle/>
          <a:p>
            <a:r>
              <a:rPr lang="en-US" sz="2800" dirty="0">
                <a:latin typeface="Berlin Sans FB" panose="020E0602020502020306" pitchFamily="34" charset="0"/>
              </a:rPr>
              <a:t>Solution Steps</a:t>
            </a:r>
          </a:p>
        </p:txBody>
      </p:sp>
      <p:sp>
        <p:nvSpPr>
          <p:cNvPr id="7" name="Rectangle: Rounded Corners 6">
            <a:extLst>
              <a:ext uri="{FF2B5EF4-FFF2-40B4-BE49-F238E27FC236}">
                <a16:creationId xmlns:a16="http://schemas.microsoft.com/office/drawing/2014/main" id="{D5393C81-9AEC-4194-94EC-9FF67EB60D65}"/>
              </a:ext>
            </a:extLst>
          </p:cNvPr>
          <p:cNvSpPr/>
          <p:nvPr/>
        </p:nvSpPr>
        <p:spPr>
          <a:xfrm>
            <a:off x="365760" y="1174491"/>
            <a:ext cx="1341120" cy="523240"/>
          </a:xfrm>
          <a:prstGeom prst="roundRect">
            <a:avLst/>
          </a:prstGeom>
          <a:solidFill>
            <a:srgbClr val="F57B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49F2DC9-4E3F-45C2-8972-8B971261172B}"/>
              </a:ext>
            </a:extLst>
          </p:cNvPr>
          <p:cNvSpPr txBox="1"/>
          <p:nvPr/>
        </p:nvSpPr>
        <p:spPr>
          <a:xfrm>
            <a:off x="452120" y="1236066"/>
            <a:ext cx="1366520" cy="461665"/>
          </a:xfrm>
          <a:prstGeom prst="rect">
            <a:avLst/>
          </a:prstGeom>
          <a:noFill/>
        </p:spPr>
        <p:txBody>
          <a:bodyPr wrap="square" rtlCol="0">
            <a:spAutoFit/>
          </a:bodyPr>
          <a:lstStyle/>
          <a:p>
            <a:r>
              <a:rPr lang="en-US" sz="2400" dirty="0">
                <a:latin typeface="Berlin Sans FB" panose="020E0602020502020306" pitchFamily="34" charset="0"/>
              </a:rPr>
              <a:t>Step 01:</a:t>
            </a:r>
          </a:p>
        </p:txBody>
      </p:sp>
      <p:sp>
        <p:nvSpPr>
          <p:cNvPr id="9" name="TextBox 8">
            <a:extLst>
              <a:ext uri="{FF2B5EF4-FFF2-40B4-BE49-F238E27FC236}">
                <a16:creationId xmlns:a16="http://schemas.microsoft.com/office/drawing/2014/main" id="{A927A064-3FBB-4E78-AE30-D126E8ECD427}"/>
              </a:ext>
            </a:extLst>
          </p:cNvPr>
          <p:cNvSpPr txBox="1"/>
          <p:nvPr/>
        </p:nvSpPr>
        <p:spPr>
          <a:xfrm>
            <a:off x="1818640" y="1056044"/>
            <a:ext cx="9072880" cy="830997"/>
          </a:xfrm>
          <a:prstGeom prst="rect">
            <a:avLst/>
          </a:prstGeom>
          <a:noFill/>
        </p:spPr>
        <p:txBody>
          <a:bodyPr wrap="square" rtlCol="0">
            <a:spAutoFit/>
          </a:bodyPr>
          <a:lstStyle/>
          <a:p>
            <a:r>
              <a:rPr lang="en-US" sz="2400" dirty="0"/>
              <a:t>Simulating the system with Given Data , with out any DC Line, Induction Motors, TCUL </a:t>
            </a:r>
            <a:r>
              <a:rPr lang="en-US" sz="2400" dirty="0" err="1"/>
              <a:t>Xmer</a:t>
            </a:r>
            <a:endParaRPr lang="en-US" sz="2400" dirty="0"/>
          </a:p>
        </p:txBody>
      </p:sp>
      <p:sp>
        <p:nvSpPr>
          <p:cNvPr id="11" name="Rectangle: Rounded Corners 10">
            <a:extLst>
              <a:ext uri="{FF2B5EF4-FFF2-40B4-BE49-F238E27FC236}">
                <a16:creationId xmlns:a16="http://schemas.microsoft.com/office/drawing/2014/main" id="{965DEF6B-43A0-4777-983D-63E49655103B}"/>
              </a:ext>
            </a:extLst>
          </p:cNvPr>
          <p:cNvSpPr/>
          <p:nvPr/>
        </p:nvSpPr>
        <p:spPr>
          <a:xfrm>
            <a:off x="350520" y="2659539"/>
            <a:ext cx="1397000" cy="769461"/>
          </a:xfrm>
          <a:prstGeom prst="roundRect">
            <a:avLst/>
          </a:prstGeom>
          <a:solidFill>
            <a:srgbClr val="F57B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E24855E7-6E51-41C2-944A-BDA6C7C37E83}"/>
              </a:ext>
            </a:extLst>
          </p:cNvPr>
          <p:cNvSpPr txBox="1"/>
          <p:nvPr/>
        </p:nvSpPr>
        <p:spPr>
          <a:xfrm>
            <a:off x="350520" y="2704366"/>
            <a:ext cx="1341120" cy="707886"/>
          </a:xfrm>
          <a:prstGeom prst="rect">
            <a:avLst/>
          </a:prstGeom>
          <a:noFill/>
        </p:spPr>
        <p:txBody>
          <a:bodyPr wrap="square" rtlCol="0">
            <a:spAutoFit/>
          </a:bodyPr>
          <a:lstStyle/>
          <a:p>
            <a:pPr algn="ctr"/>
            <a:r>
              <a:rPr lang="en-US" sz="2000" dirty="0">
                <a:latin typeface="Berlin Sans FB" panose="020E0602020502020306" pitchFamily="34" charset="0"/>
              </a:rPr>
              <a:t>Simulation result</a:t>
            </a:r>
          </a:p>
        </p:txBody>
      </p:sp>
      <p:sp>
        <p:nvSpPr>
          <p:cNvPr id="13" name="TextBox 12">
            <a:extLst>
              <a:ext uri="{FF2B5EF4-FFF2-40B4-BE49-F238E27FC236}">
                <a16:creationId xmlns:a16="http://schemas.microsoft.com/office/drawing/2014/main" id="{F4A67E00-76AA-49F7-8398-90A9B1ED0815}"/>
              </a:ext>
            </a:extLst>
          </p:cNvPr>
          <p:cNvSpPr txBox="1"/>
          <p:nvPr/>
        </p:nvSpPr>
        <p:spPr>
          <a:xfrm>
            <a:off x="1818640" y="2719754"/>
            <a:ext cx="9072880" cy="1384995"/>
          </a:xfrm>
          <a:prstGeom prst="rect">
            <a:avLst/>
          </a:prstGeom>
          <a:noFill/>
        </p:spPr>
        <p:txBody>
          <a:bodyPr wrap="square" rtlCol="0">
            <a:spAutoFit/>
          </a:bodyPr>
          <a:lstStyle/>
          <a:p>
            <a:pPr marL="342900" indent="-342900">
              <a:buFont typeface="Wingdings" panose="05000000000000000000" pitchFamily="2" charset="2"/>
              <a:buChar char="q"/>
            </a:pPr>
            <a:r>
              <a:rPr lang="en-US" sz="2800" dirty="0"/>
              <a:t>No Overloading Occurred.</a:t>
            </a:r>
          </a:p>
          <a:p>
            <a:pPr marL="342900" indent="-342900">
              <a:buFont typeface="Wingdings" panose="05000000000000000000" pitchFamily="2" charset="2"/>
              <a:buChar char="q"/>
            </a:pPr>
            <a:r>
              <a:rPr lang="en-US" sz="2800" dirty="0"/>
              <a:t>Couple of Line underloading and under loaded Transformer was observed</a:t>
            </a:r>
          </a:p>
        </p:txBody>
      </p:sp>
    </p:spTree>
    <p:extLst>
      <p:ext uri="{BB962C8B-B14F-4D97-AF65-F5344CB8AC3E}">
        <p14:creationId xmlns:p14="http://schemas.microsoft.com/office/powerpoint/2010/main" val="1388156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DF4AEB2-C407-420C-A572-BC17559521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334" y="443311"/>
            <a:ext cx="7209965" cy="55639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6" name="Picture 5">
            <a:extLst>
              <a:ext uri="{FF2B5EF4-FFF2-40B4-BE49-F238E27FC236}">
                <a16:creationId xmlns:a16="http://schemas.microsoft.com/office/drawing/2014/main" id="{BDB60AAA-600A-4DA7-B793-78A8E1FD26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28619" y="443311"/>
            <a:ext cx="7863840" cy="543662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5656296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DC15AAE1-A501-4523-A3B9-C456B84565D2}"/>
              </a:ext>
            </a:extLst>
          </p:cNvPr>
          <p:cNvSpPr/>
          <p:nvPr/>
        </p:nvSpPr>
        <p:spPr>
          <a:xfrm>
            <a:off x="406400" y="727451"/>
            <a:ext cx="1341120" cy="523240"/>
          </a:xfrm>
          <a:prstGeom prst="roundRect">
            <a:avLst/>
          </a:prstGeom>
          <a:solidFill>
            <a:srgbClr val="F57B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2C480CC-90BE-48E7-A1B2-268F57A8AAC4}"/>
              </a:ext>
            </a:extLst>
          </p:cNvPr>
          <p:cNvSpPr txBox="1"/>
          <p:nvPr/>
        </p:nvSpPr>
        <p:spPr>
          <a:xfrm>
            <a:off x="492760" y="789026"/>
            <a:ext cx="1366520" cy="461665"/>
          </a:xfrm>
          <a:prstGeom prst="rect">
            <a:avLst/>
          </a:prstGeom>
          <a:noFill/>
        </p:spPr>
        <p:txBody>
          <a:bodyPr wrap="square" rtlCol="0">
            <a:spAutoFit/>
          </a:bodyPr>
          <a:lstStyle/>
          <a:p>
            <a:r>
              <a:rPr lang="en-US" sz="2400" dirty="0"/>
              <a:t>Step 02:</a:t>
            </a:r>
          </a:p>
        </p:txBody>
      </p:sp>
      <p:sp>
        <p:nvSpPr>
          <p:cNvPr id="4" name="TextBox 3">
            <a:extLst>
              <a:ext uri="{FF2B5EF4-FFF2-40B4-BE49-F238E27FC236}">
                <a16:creationId xmlns:a16="http://schemas.microsoft.com/office/drawing/2014/main" id="{CF864797-2243-44E9-83BE-C1BF5BEDD854}"/>
              </a:ext>
            </a:extLst>
          </p:cNvPr>
          <p:cNvSpPr txBox="1"/>
          <p:nvPr/>
        </p:nvSpPr>
        <p:spPr>
          <a:xfrm>
            <a:off x="1859280" y="609004"/>
            <a:ext cx="9072880" cy="1200329"/>
          </a:xfrm>
          <a:prstGeom prst="rect">
            <a:avLst/>
          </a:prstGeom>
          <a:noFill/>
        </p:spPr>
        <p:txBody>
          <a:bodyPr wrap="square" rtlCol="0">
            <a:spAutoFit/>
          </a:bodyPr>
          <a:lstStyle/>
          <a:p>
            <a:r>
              <a:rPr lang="en-US" sz="2400" dirty="0"/>
              <a:t>Simulating the system with Given Data , with a DC Line between B39_Rec to B9_INV bus, 10 Induction Motors,  two TCUL </a:t>
            </a:r>
            <a:r>
              <a:rPr lang="en-US" sz="2400" dirty="0" err="1"/>
              <a:t>Xmer</a:t>
            </a:r>
            <a:r>
              <a:rPr lang="en-US" sz="2400" dirty="0"/>
              <a:t>, Removing L15 AC line</a:t>
            </a:r>
          </a:p>
        </p:txBody>
      </p:sp>
      <p:sp>
        <p:nvSpPr>
          <p:cNvPr id="5" name="Rectangle: Rounded Corners 4">
            <a:extLst>
              <a:ext uri="{FF2B5EF4-FFF2-40B4-BE49-F238E27FC236}">
                <a16:creationId xmlns:a16="http://schemas.microsoft.com/office/drawing/2014/main" id="{C74AD7F8-5A03-4EDA-B4A3-5A7285B99B4C}"/>
              </a:ext>
            </a:extLst>
          </p:cNvPr>
          <p:cNvSpPr/>
          <p:nvPr/>
        </p:nvSpPr>
        <p:spPr>
          <a:xfrm>
            <a:off x="350520" y="2557939"/>
            <a:ext cx="1397000" cy="769461"/>
          </a:xfrm>
          <a:prstGeom prst="roundRect">
            <a:avLst/>
          </a:prstGeom>
          <a:solidFill>
            <a:srgbClr val="F57B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F9F1491-7B7F-46F3-ABC0-60C650A79459}"/>
              </a:ext>
            </a:extLst>
          </p:cNvPr>
          <p:cNvSpPr txBox="1"/>
          <p:nvPr/>
        </p:nvSpPr>
        <p:spPr>
          <a:xfrm>
            <a:off x="350520" y="2602766"/>
            <a:ext cx="1341120" cy="707886"/>
          </a:xfrm>
          <a:prstGeom prst="rect">
            <a:avLst/>
          </a:prstGeom>
          <a:noFill/>
        </p:spPr>
        <p:txBody>
          <a:bodyPr wrap="square" rtlCol="0">
            <a:spAutoFit/>
          </a:bodyPr>
          <a:lstStyle/>
          <a:p>
            <a:pPr algn="ctr"/>
            <a:r>
              <a:rPr lang="en-US" sz="2000" dirty="0"/>
              <a:t>Simulation result</a:t>
            </a:r>
          </a:p>
        </p:txBody>
      </p:sp>
      <p:sp>
        <p:nvSpPr>
          <p:cNvPr id="7" name="TextBox 6">
            <a:extLst>
              <a:ext uri="{FF2B5EF4-FFF2-40B4-BE49-F238E27FC236}">
                <a16:creationId xmlns:a16="http://schemas.microsoft.com/office/drawing/2014/main" id="{D1641A12-AEBA-420D-A80D-A18DB4F6C3B0}"/>
              </a:ext>
            </a:extLst>
          </p:cNvPr>
          <p:cNvSpPr txBox="1"/>
          <p:nvPr/>
        </p:nvSpPr>
        <p:spPr>
          <a:xfrm>
            <a:off x="1859280" y="2557939"/>
            <a:ext cx="9072880" cy="1815882"/>
          </a:xfrm>
          <a:prstGeom prst="rect">
            <a:avLst/>
          </a:prstGeom>
          <a:noFill/>
        </p:spPr>
        <p:txBody>
          <a:bodyPr wrap="square" rtlCol="0">
            <a:spAutoFit/>
          </a:bodyPr>
          <a:lstStyle/>
          <a:p>
            <a:pPr marL="342900" indent="-342900">
              <a:buFont typeface="Wingdings" panose="05000000000000000000" pitchFamily="2" charset="2"/>
              <a:buChar char="q"/>
            </a:pPr>
            <a:r>
              <a:rPr lang="en-US" sz="2800" dirty="0"/>
              <a:t>Some bus was out of  their voltage limit</a:t>
            </a:r>
          </a:p>
          <a:p>
            <a:pPr marL="342900" indent="-342900">
              <a:buFont typeface="Wingdings" panose="05000000000000000000" pitchFamily="2" charset="2"/>
              <a:buChar char="q"/>
            </a:pPr>
            <a:r>
              <a:rPr lang="en-US" sz="2800" dirty="0"/>
              <a:t>At L22, L14, L17,L07,L18,L09 line Overloading Occurred.</a:t>
            </a:r>
          </a:p>
          <a:p>
            <a:pPr marL="342900" indent="-342900">
              <a:buFont typeface="Wingdings" panose="05000000000000000000" pitchFamily="2" charset="2"/>
              <a:buChar char="q"/>
            </a:pPr>
            <a:r>
              <a:rPr lang="en-US" sz="2800" dirty="0"/>
              <a:t> Transformer 03 was highly overloaded</a:t>
            </a:r>
          </a:p>
          <a:p>
            <a:pPr marL="342900" indent="-342900">
              <a:buFont typeface="Wingdings" panose="05000000000000000000" pitchFamily="2" charset="2"/>
              <a:buChar char="q"/>
            </a:pPr>
            <a:r>
              <a:rPr lang="en-US" sz="2800" dirty="0"/>
              <a:t> G03,G06,G07 crossed their Reactive Limits</a:t>
            </a:r>
          </a:p>
        </p:txBody>
      </p:sp>
    </p:spTree>
    <p:extLst>
      <p:ext uri="{BB962C8B-B14F-4D97-AF65-F5344CB8AC3E}">
        <p14:creationId xmlns:p14="http://schemas.microsoft.com/office/powerpoint/2010/main" val="18281876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C0D69EC-8B0A-45A0-A1C8-8949EE7632CE}"/>
              </a:ext>
            </a:extLst>
          </p:cNvPr>
          <p:cNvPicPr>
            <a:picLocks noChangeAspect="1"/>
          </p:cNvPicPr>
          <p:nvPr/>
        </p:nvPicPr>
        <p:blipFill>
          <a:blip r:embed="rId2"/>
          <a:stretch>
            <a:fillRect/>
          </a:stretch>
        </p:blipFill>
        <p:spPr>
          <a:xfrm>
            <a:off x="1" y="0"/>
            <a:ext cx="6096000" cy="70866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Picture 2">
            <a:extLst>
              <a:ext uri="{FF2B5EF4-FFF2-40B4-BE49-F238E27FC236}">
                <a16:creationId xmlns:a16="http://schemas.microsoft.com/office/drawing/2014/main" id="{53D24F27-F97D-4D00-8F04-0B309FDE7691}"/>
              </a:ext>
            </a:extLst>
          </p:cNvPr>
          <p:cNvPicPr>
            <a:picLocks noChangeAspect="1"/>
          </p:cNvPicPr>
          <p:nvPr/>
        </p:nvPicPr>
        <p:blipFill>
          <a:blip r:embed="rId3"/>
          <a:stretch>
            <a:fillRect/>
          </a:stretch>
        </p:blipFill>
        <p:spPr>
          <a:xfrm>
            <a:off x="5980176" y="-111760"/>
            <a:ext cx="6211824" cy="73152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TextBox 3">
            <a:extLst>
              <a:ext uri="{FF2B5EF4-FFF2-40B4-BE49-F238E27FC236}">
                <a16:creationId xmlns:a16="http://schemas.microsoft.com/office/drawing/2014/main" id="{B12A8432-9434-4100-9871-550E0ED63C24}"/>
              </a:ext>
            </a:extLst>
          </p:cNvPr>
          <p:cNvSpPr txBox="1"/>
          <p:nvPr/>
        </p:nvSpPr>
        <p:spPr>
          <a:xfrm>
            <a:off x="-1473200" y="-111760"/>
            <a:ext cx="1209040" cy="830997"/>
          </a:xfrm>
          <a:prstGeom prst="rect">
            <a:avLst/>
          </a:prstGeom>
          <a:noFill/>
        </p:spPr>
        <p:txBody>
          <a:bodyPr wrap="square" rtlCol="0">
            <a:spAutoFit/>
          </a:bodyPr>
          <a:lstStyle/>
          <a:p>
            <a:pPr algn="ctr"/>
            <a:r>
              <a:rPr lang="en-US" sz="2400" b="1" dirty="0"/>
              <a:t>After </a:t>
            </a:r>
          </a:p>
          <a:p>
            <a:pPr algn="ctr"/>
            <a:r>
              <a:rPr lang="en-US" sz="2400" b="1" dirty="0"/>
              <a:t>Step 02</a:t>
            </a:r>
          </a:p>
        </p:txBody>
      </p:sp>
    </p:spTree>
    <p:extLst>
      <p:ext uri="{BB962C8B-B14F-4D97-AF65-F5344CB8AC3E}">
        <p14:creationId xmlns:p14="http://schemas.microsoft.com/office/powerpoint/2010/main" val="17239794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66DF669-50AD-4D2E-91D6-38541291E3DD}"/>
              </a:ext>
            </a:extLst>
          </p:cNvPr>
          <p:cNvSpPr/>
          <p:nvPr/>
        </p:nvSpPr>
        <p:spPr>
          <a:xfrm>
            <a:off x="350520" y="346174"/>
            <a:ext cx="1341120" cy="523240"/>
          </a:xfrm>
          <a:prstGeom prst="roundRect">
            <a:avLst/>
          </a:prstGeom>
          <a:solidFill>
            <a:srgbClr val="F57B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1F6B594-980D-40D2-AA0D-0F5802DA4FEB}"/>
              </a:ext>
            </a:extLst>
          </p:cNvPr>
          <p:cNvSpPr txBox="1"/>
          <p:nvPr/>
        </p:nvSpPr>
        <p:spPr>
          <a:xfrm>
            <a:off x="436880" y="407749"/>
            <a:ext cx="1366520" cy="461665"/>
          </a:xfrm>
          <a:prstGeom prst="rect">
            <a:avLst/>
          </a:prstGeom>
          <a:noFill/>
        </p:spPr>
        <p:txBody>
          <a:bodyPr wrap="square" rtlCol="0">
            <a:spAutoFit/>
          </a:bodyPr>
          <a:lstStyle/>
          <a:p>
            <a:r>
              <a:rPr lang="en-US" sz="2400" dirty="0">
                <a:latin typeface="Berlin Sans FB" panose="020E0602020502020306" pitchFamily="34" charset="0"/>
              </a:rPr>
              <a:t>Step 03:</a:t>
            </a:r>
          </a:p>
        </p:txBody>
      </p:sp>
      <p:sp>
        <p:nvSpPr>
          <p:cNvPr id="5" name="Rectangle: Rounded Corners 4">
            <a:extLst>
              <a:ext uri="{FF2B5EF4-FFF2-40B4-BE49-F238E27FC236}">
                <a16:creationId xmlns:a16="http://schemas.microsoft.com/office/drawing/2014/main" id="{3554E3D6-ACDF-4706-A058-6DD2051ED564}"/>
              </a:ext>
            </a:extLst>
          </p:cNvPr>
          <p:cNvSpPr/>
          <p:nvPr/>
        </p:nvSpPr>
        <p:spPr>
          <a:xfrm>
            <a:off x="350520" y="1734979"/>
            <a:ext cx="1397000" cy="769461"/>
          </a:xfrm>
          <a:prstGeom prst="roundRect">
            <a:avLst/>
          </a:prstGeom>
          <a:solidFill>
            <a:srgbClr val="F57B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F93C833-6D9D-4D69-B4A6-BDEBC3D1C796}"/>
              </a:ext>
            </a:extLst>
          </p:cNvPr>
          <p:cNvSpPr txBox="1"/>
          <p:nvPr/>
        </p:nvSpPr>
        <p:spPr>
          <a:xfrm>
            <a:off x="350520" y="1779806"/>
            <a:ext cx="1341120" cy="707886"/>
          </a:xfrm>
          <a:prstGeom prst="rect">
            <a:avLst/>
          </a:prstGeom>
          <a:noFill/>
        </p:spPr>
        <p:txBody>
          <a:bodyPr wrap="square" rtlCol="0">
            <a:spAutoFit/>
          </a:bodyPr>
          <a:lstStyle/>
          <a:p>
            <a:pPr algn="ctr"/>
            <a:r>
              <a:rPr lang="en-US" sz="2000" dirty="0">
                <a:latin typeface="Berlin Sans FB" panose="020E0602020502020306" pitchFamily="34" charset="0"/>
              </a:rPr>
              <a:t>Simulation result</a:t>
            </a:r>
          </a:p>
        </p:txBody>
      </p:sp>
      <p:sp>
        <p:nvSpPr>
          <p:cNvPr id="7" name="TextBox 6">
            <a:extLst>
              <a:ext uri="{FF2B5EF4-FFF2-40B4-BE49-F238E27FC236}">
                <a16:creationId xmlns:a16="http://schemas.microsoft.com/office/drawing/2014/main" id="{7057CE80-815B-46AD-824A-BED67FF799F2}"/>
              </a:ext>
            </a:extLst>
          </p:cNvPr>
          <p:cNvSpPr txBox="1"/>
          <p:nvPr/>
        </p:nvSpPr>
        <p:spPr>
          <a:xfrm>
            <a:off x="1859280" y="1734979"/>
            <a:ext cx="9072880" cy="1815882"/>
          </a:xfrm>
          <a:prstGeom prst="rect">
            <a:avLst/>
          </a:prstGeom>
          <a:noFill/>
        </p:spPr>
        <p:txBody>
          <a:bodyPr wrap="square" rtlCol="0">
            <a:spAutoFit/>
          </a:bodyPr>
          <a:lstStyle/>
          <a:p>
            <a:pPr marL="342900" indent="-342900">
              <a:buFont typeface="Wingdings" panose="05000000000000000000" pitchFamily="2" charset="2"/>
              <a:buChar char="q"/>
            </a:pPr>
            <a:r>
              <a:rPr lang="en-US" sz="2800" dirty="0"/>
              <a:t>No Gen have crossed their Reactive Limits</a:t>
            </a:r>
          </a:p>
          <a:p>
            <a:pPr marL="342900" indent="-342900">
              <a:buFont typeface="Wingdings" panose="05000000000000000000" pitchFamily="2" charset="2"/>
              <a:buChar char="q"/>
            </a:pPr>
            <a:r>
              <a:rPr lang="en-US" sz="2800" dirty="0"/>
              <a:t>Some bus was out of their voltage limit</a:t>
            </a:r>
          </a:p>
          <a:p>
            <a:pPr marL="342900" indent="-342900">
              <a:buFont typeface="Wingdings" panose="05000000000000000000" pitchFamily="2" charset="2"/>
              <a:buChar char="q"/>
            </a:pPr>
            <a:r>
              <a:rPr lang="en-US" sz="2800" dirty="0"/>
              <a:t>Transformer 03 was overloaded as before </a:t>
            </a:r>
          </a:p>
          <a:p>
            <a:pPr marL="342900" indent="-342900">
              <a:buFont typeface="Wingdings" panose="05000000000000000000" pitchFamily="2" charset="2"/>
              <a:buChar char="q"/>
            </a:pPr>
            <a:r>
              <a:rPr lang="en-US" sz="2800" dirty="0"/>
              <a:t>Line Overloading remained same at six line</a:t>
            </a:r>
          </a:p>
        </p:txBody>
      </p:sp>
      <p:sp>
        <p:nvSpPr>
          <p:cNvPr id="8" name="TextBox 7">
            <a:extLst>
              <a:ext uri="{FF2B5EF4-FFF2-40B4-BE49-F238E27FC236}">
                <a16:creationId xmlns:a16="http://schemas.microsoft.com/office/drawing/2014/main" id="{88A3697E-6B3B-4422-BD4F-DE4EE494FCD1}"/>
              </a:ext>
            </a:extLst>
          </p:cNvPr>
          <p:cNvSpPr txBox="1"/>
          <p:nvPr/>
        </p:nvSpPr>
        <p:spPr>
          <a:xfrm>
            <a:off x="1996440" y="355600"/>
            <a:ext cx="9291320" cy="830997"/>
          </a:xfrm>
          <a:prstGeom prst="rect">
            <a:avLst/>
          </a:prstGeom>
          <a:noFill/>
        </p:spPr>
        <p:txBody>
          <a:bodyPr wrap="square" rtlCol="0">
            <a:spAutoFit/>
          </a:bodyPr>
          <a:lstStyle/>
          <a:p>
            <a:r>
              <a:rPr lang="en-US" sz="2400" dirty="0"/>
              <a:t>To solve Generators at reactive limits problem, one SVC was connected B23</a:t>
            </a:r>
          </a:p>
        </p:txBody>
      </p:sp>
      <p:sp>
        <p:nvSpPr>
          <p:cNvPr id="9" name="Rectangle: Rounded Corners 8">
            <a:extLst>
              <a:ext uri="{FF2B5EF4-FFF2-40B4-BE49-F238E27FC236}">
                <a16:creationId xmlns:a16="http://schemas.microsoft.com/office/drawing/2014/main" id="{DE9036C3-D8EE-416A-AB1D-A5AB7191CE16}"/>
              </a:ext>
            </a:extLst>
          </p:cNvPr>
          <p:cNvSpPr/>
          <p:nvPr/>
        </p:nvSpPr>
        <p:spPr>
          <a:xfrm>
            <a:off x="231072" y="4110164"/>
            <a:ext cx="1765368" cy="728391"/>
          </a:xfrm>
          <a:prstGeom prst="roundRect">
            <a:avLst/>
          </a:prstGeom>
          <a:solidFill>
            <a:srgbClr val="F57B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D75A1A4-3399-4854-BDBA-04CD9813DEFE}"/>
              </a:ext>
            </a:extLst>
          </p:cNvPr>
          <p:cNvSpPr txBox="1"/>
          <p:nvPr/>
        </p:nvSpPr>
        <p:spPr>
          <a:xfrm>
            <a:off x="231071" y="4246431"/>
            <a:ext cx="1765369" cy="461665"/>
          </a:xfrm>
          <a:prstGeom prst="rect">
            <a:avLst/>
          </a:prstGeom>
          <a:noFill/>
        </p:spPr>
        <p:txBody>
          <a:bodyPr wrap="square" rtlCol="0">
            <a:spAutoFit/>
          </a:bodyPr>
          <a:lstStyle/>
          <a:p>
            <a:pPr algn="ctr"/>
            <a:r>
              <a:rPr lang="en-US" sz="2400" dirty="0">
                <a:latin typeface="Berlin Sans FB" panose="020E0602020502020306" pitchFamily="34" charset="0"/>
              </a:rPr>
              <a:t>Explanation</a:t>
            </a:r>
          </a:p>
        </p:txBody>
      </p:sp>
      <p:sp>
        <p:nvSpPr>
          <p:cNvPr id="11" name="TextBox 10">
            <a:extLst>
              <a:ext uri="{FF2B5EF4-FFF2-40B4-BE49-F238E27FC236}">
                <a16:creationId xmlns:a16="http://schemas.microsoft.com/office/drawing/2014/main" id="{FC3DA05C-585B-4633-8474-1930388EFA38}"/>
              </a:ext>
            </a:extLst>
          </p:cNvPr>
          <p:cNvSpPr txBox="1"/>
          <p:nvPr/>
        </p:nvSpPr>
        <p:spPr>
          <a:xfrm>
            <a:off x="2275840" y="4110164"/>
            <a:ext cx="7640320" cy="1569660"/>
          </a:xfrm>
          <a:prstGeom prst="rect">
            <a:avLst/>
          </a:prstGeom>
          <a:noFill/>
        </p:spPr>
        <p:txBody>
          <a:bodyPr wrap="square" rtlCol="0">
            <a:spAutoFit/>
          </a:bodyPr>
          <a:lstStyle/>
          <a:p>
            <a:pPr algn="just"/>
            <a:r>
              <a:rPr lang="en-US" sz="2400" dirty="0"/>
              <a:t>SVC can absorb or deliver reactive power . So, one SVC was connected at B23. SVC  has solved the problem of Generator reactive limits</a:t>
            </a:r>
          </a:p>
          <a:p>
            <a:pPr algn="just"/>
            <a:endParaRPr lang="en-US" sz="2400" dirty="0"/>
          </a:p>
        </p:txBody>
      </p:sp>
    </p:spTree>
    <p:extLst>
      <p:ext uri="{BB962C8B-B14F-4D97-AF65-F5344CB8AC3E}">
        <p14:creationId xmlns:p14="http://schemas.microsoft.com/office/powerpoint/2010/main" val="18287250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66A1D44-285B-4011-A014-C433FE2B970D}"/>
              </a:ext>
            </a:extLst>
          </p:cNvPr>
          <p:cNvSpPr txBox="1"/>
          <p:nvPr/>
        </p:nvSpPr>
        <p:spPr>
          <a:xfrm>
            <a:off x="1385041" y="1427869"/>
            <a:ext cx="9655749" cy="3416320"/>
          </a:xfrm>
          <a:prstGeom prst="rect">
            <a:avLst/>
          </a:prstGeom>
          <a:noFill/>
        </p:spPr>
        <p:txBody>
          <a:bodyPr wrap="square" rtlCol="0">
            <a:spAutoFit/>
          </a:bodyPr>
          <a:lstStyle/>
          <a:p>
            <a:r>
              <a:rPr lang="en-US" sz="2400" dirty="0"/>
              <a:t> Another approach: connect SVC in all three gen. </a:t>
            </a:r>
            <a:r>
              <a:rPr lang="en-US" sz="2400"/>
              <a:t>bus </a:t>
            </a:r>
            <a:r>
              <a:rPr lang="en-US" sz="2400" dirty="0"/>
              <a:t>individually</a:t>
            </a:r>
          </a:p>
          <a:p>
            <a:endParaRPr lang="en-US" sz="2400" dirty="0"/>
          </a:p>
          <a:p>
            <a:r>
              <a:rPr lang="en-US" sz="2400" dirty="0"/>
              <a:t>Total reactive power at B23 is = </a:t>
            </a:r>
            <a:r>
              <a:rPr lang="en-US" sz="2400" b="1" dirty="0" err="1"/>
              <a:t>Q</a:t>
            </a:r>
            <a:r>
              <a:rPr lang="en-US" sz="2400" b="1" baseline="-25000" dirty="0" err="1"/>
              <a:t>load</a:t>
            </a:r>
            <a:r>
              <a:rPr lang="en-US" sz="2400" b="1" baseline="30000" dirty="0"/>
              <a:t> </a:t>
            </a:r>
            <a:r>
              <a:rPr lang="en-US" sz="2400" b="1" dirty="0"/>
              <a:t>+ </a:t>
            </a:r>
            <a:r>
              <a:rPr lang="en-US" sz="2400" b="1" dirty="0" err="1"/>
              <a:t>Q</a:t>
            </a:r>
            <a:r>
              <a:rPr lang="en-US" sz="2400" b="1" baseline="-25000" dirty="0" err="1"/>
              <a:t>motor</a:t>
            </a:r>
            <a:r>
              <a:rPr lang="en-US" sz="2400" b="1" dirty="0"/>
              <a:t> </a:t>
            </a:r>
          </a:p>
          <a:p>
            <a:r>
              <a:rPr lang="en-US" sz="2400" dirty="0"/>
              <a:t>				 =84.6+600</a:t>
            </a:r>
          </a:p>
          <a:p>
            <a:r>
              <a:rPr lang="en-US" sz="2400" dirty="0"/>
              <a:t>				 =684.6 MVAR</a:t>
            </a:r>
          </a:p>
          <a:p>
            <a:endParaRPr lang="en-US" sz="2400" dirty="0"/>
          </a:p>
          <a:p>
            <a:r>
              <a:rPr lang="en-US" sz="2400" dirty="0"/>
              <a:t>We have placed a </a:t>
            </a:r>
            <a:r>
              <a:rPr lang="en-US" sz="2400" b="1" dirty="0"/>
              <a:t>700MVAR </a:t>
            </a:r>
            <a:r>
              <a:rPr lang="en-US" sz="2400" dirty="0"/>
              <a:t>SVC at B23.	</a:t>
            </a:r>
          </a:p>
          <a:p>
            <a:endParaRPr lang="en-US" sz="2400" dirty="0"/>
          </a:p>
          <a:p>
            <a:r>
              <a:rPr lang="en-US" sz="2400" dirty="0"/>
              <a:t>SVC rating </a:t>
            </a:r>
            <a:r>
              <a:rPr lang="en-US" sz="2400" dirty="0" err="1"/>
              <a:t>Qmax</a:t>
            </a:r>
            <a:r>
              <a:rPr lang="en-US" sz="2400" dirty="0"/>
              <a:t>=700Mvar, </a:t>
            </a:r>
            <a:r>
              <a:rPr lang="en-US" sz="2400" dirty="0" err="1"/>
              <a:t>Qmin</a:t>
            </a:r>
            <a:r>
              <a:rPr lang="en-US" sz="2400" dirty="0"/>
              <a:t>= -10Mvar </a:t>
            </a:r>
          </a:p>
        </p:txBody>
      </p:sp>
      <p:sp>
        <p:nvSpPr>
          <p:cNvPr id="4" name="Rectangle: Rounded Corners 3">
            <a:extLst>
              <a:ext uri="{FF2B5EF4-FFF2-40B4-BE49-F238E27FC236}">
                <a16:creationId xmlns:a16="http://schemas.microsoft.com/office/drawing/2014/main" id="{012F048C-3A69-40E7-BB5B-D2DB1E951A79}"/>
              </a:ext>
            </a:extLst>
          </p:cNvPr>
          <p:cNvSpPr/>
          <p:nvPr/>
        </p:nvSpPr>
        <p:spPr>
          <a:xfrm>
            <a:off x="168927" y="199451"/>
            <a:ext cx="2432229" cy="1092151"/>
          </a:xfrm>
          <a:prstGeom prst="roundRect">
            <a:avLst/>
          </a:prstGeom>
          <a:solidFill>
            <a:srgbClr val="F57B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EA2330F-BA20-498D-9D7C-6D7D886974DB}"/>
              </a:ext>
            </a:extLst>
          </p:cNvPr>
          <p:cNvSpPr txBox="1"/>
          <p:nvPr/>
        </p:nvSpPr>
        <p:spPr>
          <a:xfrm>
            <a:off x="168927" y="335718"/>
            <a:ext cx="2263554" cy="830997"/>
          </a:xfrm>
          <a:prstGeom prst="rect">
            <a:avLst/>
          </a:prstGeom>
          <a:noFill/>
        </p:spPr>
        <p:txBody>
          <a:bodyPr wrap="square" rtlCol="0">
            <a:spAutoFit/>
          </a:bodyPr>
          <a:lstStyle/>
          <a:p>
            <a:pPr algn="ctr"/>
            <a:r>
              <a:rPr lang="en-US" sz="2400" dirty="0">
                <a:latin typeface="Berlin Sans FB" panose="020E0602020502020306" pitchFamily="34" charset="0"/>
              </a:rPr>
              <a:t>Mathematical Reasoning</a:t>
            </a:r>
          </a:p>
        </p:txBody>
      </p:sp>
    </p:spTree>
    <p:extLst>
      <p:ext uri="{BB962C8B-B14F-4D97-AF65-F5344CB8AC3E}">
        <p14:creationId xmlns:p14="http://schemas.microsoft.com/office/powerpoint/2010/main" val="8004070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42E59E9-467E-48ED-90FD-47E58E4D7080}"/>
              </a:ext>
            </a:extLst>
          </p:cNvPr>
          <p:cNvPicPr>
            <a:picLocks noChangeAspect="1"/>
          </p:cNvPicPr>
          <p:nvPr/>
        </p:nvPicPr>
        <p:blipFill>
          <a:blip r:embed="rId2"/>
          <a:stretch>
            <a:fillRect/>
          </a:stretch>
        </p:blipFill>
        <p:spPr>
          <a:xfrm>
            <a:off x="0" y="0"/>
            <a:ext cx="6921661" cy="6858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4" name="Picture 3">
            <a:extLst>
              <a:ext uri="{FF2B5EF4-FFF2-40B4-BE49-F238E27FC236}">
                <a16:creationId xmlns:a16="http://schemas.microsoft.com/office/drawing/2014/main" id="{22B9F938-6F7C-45FC-84A1-C4C92FEA1AA6}"/>
              </a:ext>
            </a:extLst>
          </p:cNvPr>
          <p:cNvPicPr>
            <a:picLocks noChangeAspect="1"/>
          </p:cNvPicPr>
          <p:nvPr/>
        </p:nvPicPr>
        <p:blipFill>
          <a:blip r:embed="rId3"/>
          <a:stretch>
            <a:fillRect/>
          </a:stretch>
        </p:blipFill>
        <p:spPr>
          <a:xfrm>
            <a:off x="5474826" y="0"/>
            <a:ext cx="7018116" cy="6858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7176589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66DF669-50AD-4D2E-91D6-38541291E3DD}"/>
              </a:ext>
            </a:extLst>
          </p:cNvPr>
          <p:cNvSpPr/>
          <p:nvPr/>
        </p:nvSpPr>
        <p:spPr>
          <a:xfrm>
            <a:off x="350520" y="346174"/>
            <a:ext cx="1341120" cy="523240"/>
          </a:xfrm>
          <a:prstGeom prst="roundRect">
            <a:avLst/>
          </a:prstGeom>
          <a:solidFill>
            <a:srgbClr val="F57B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1F6B594-980D-40D2-AA0D-0F5802DA4FEB}"/>
              </a:ext>
            </a:extLst>
          </p:cNvPr>
          <p:cNvSpPr txBox="1"/>
          <p:nvPr/>
        </p:nvSpPr>
        <p:spPr>
          <a:xfrm>
            <a:off x="436880" y="407749"/>
            <a:ext cx="1366520" cy="461665"/>
          </a:xfrm>
          <a:prstGeom prst="rect">
            <a:avLst/>
          </a:prstGeom>
          <a:noFill/>
        </p:spPr>
        <p:txBody>
          <a:bodyPr wrap="square" rtlCol="0">
            <a:spAutoFit/>
          </a:bodyPr>
          <a:lstStyle/>
          <a:p>
            <a:r>
              <a:rPr lang="en-US" sz="2400" dirty="0"/>
              <a:t>Step 04:</a:t>
            </a:r>
          </a:p>
        </p:txBody>
      </p:sp>
      <p:sp>
        <p:nvSpPr>
          <p:cNvPr id="5" name="Rectangle: Rounded Corners 4">
            <a:extLst>
              <a:ext uri="{FF2B5EF4-FFF2-40B4-BE49-F238E27FC236}">
                <a16:creationId xmlns:a16="http://schemas.microsoft.com/office/drawing/2014/main" id="{3554E3D6-ACDF-4706-A058-6DD2051ED564}"/>
              </a:ext>
            </a:extLst>
          </p:cNvPr>
          <p:cNvSpPr/>
          <p:nvPr/>
        </p:nvSpPr>
        <p:spPr>
          <a:xfrm>
            <a:off x="350520" y="1734979"/>
            <a:ext cx="1397000" cy="769461"/>
          </a:xfrm>
          <a:prstGeom prst="roundRect">
            <a:avLst/>
          </a:prstGeom>
          <a:solidFill>
            <a:srgbClr val="F57B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F93C833-6D9D-4D69-B4A6-BDEBC3D1C796}"/>
              </a:ext>
            </a:extLst>
          </p:cNvPr>
          <p:cNvSpPr txBox="1"/>
          <p:nvPr/>
        </p:nvSpPr>
        <p:spPr>
          <a:xfrm>
            <a:off x="350520" y="1779806"/>
            <a:ext cx="1341120" cy="707886"/>
          </a:xfrm>
          <a:prstGeom prst="rect">
            <a:avLst/>
          </a:prstGeom>
          <a:noFill/>
        </p:spPr>
        <p:txBody>
          <a:bodyPr wrap="square" rtlCol="0">
            <a:spAutoFit/>
          </a:bodyPr>
          <a:lstStyle/>
          <a:p>
            <a:pPr algn="ctr"/>
            <a:r>
              <a:rPr lang="en-US" sz="2000" dirty="0"/>
              <a:t>Simulation result</a:t>
            </a:r>
          </a:p>
        </p:txBody>
      </p:sp>
      <p:sp>
        <p:nvSpPr>
          <p:cNvPr id="7" name="TextBox 6">
            <a:extLst>
              <a:ext uri="{FF2B5EF4-FFF2-40B4-BE49-F238E27FC236}">
                <a16:creationId xmlns:a16="http://schemas.microsoft.com/office/drawing/2014/main" id="{7057CE80-815B-46AD-824A-BED67FF799F2}"/>
              </a:ext>
            </a:extLst>
          </p:cNvPr>
          <p:cNvSpPr txBox="1"/>
          <p:nvPr/>
        </p:nvSpPr>
        <p:spPr>
          <a:xfrm>
            <a:off x="1803400" y="1734979"/>
            <a:ext cx="9072880" cy="2246769"/>
          </a:xfrm>
          <a:prstGeom prst="rect">
            <a:avLst/>
          </a:prstGeom>
          <a:noFill/>
        </p:spPr>
        <p:txBody>
          <a:bodyPr wrap="square" rtlCol="0">
            <a:spAutoFit/>
          </a:bodyPr>
          <a:lstStyle/>
          <a:p>
            <a:pPr marL="342900" indent="-342900">
              <a:buFont typeface="Wingdings" panose="05000000000000000000" pitchFamily="2" charset="2"/>
              <a:buChar char="q"/>
            </a:pPr>
            <a:r>
              <a:rPr lang="en-US" sz="2800" dirty="0"/>
              <a:t>No Gen has crossed their Reactive Limits</a:t>
            </a:r>
          </a:p>
          <a:p>
            <a:pPr marL="342900" indent="-342900">
              <a:buFont typeface="Wingdings" panose="05000000000000000000" pitchFamily="2" charset="2"/>
              <a:buChar char="q"/>
            </a:pPr>
            <a:r>
              <a:rPr lang="en-US" sz="2800" dirty="0"/>
              <a:t>No buses were out of their voltage limits</a:t>
            </a:r>
          </a:p>
          <a:p>
            <a:pPr marL="342900" indent="-342900">
              <a:buFont typeface="Wingdings" panose="05000000000000000000" pitchFamily="2" charset="2"/>
              <a:buChar char="q"/>
            </a:pPr>
            <a:r>
              <a:rPr lang="en-US" sz="2800" dirty="0"/>
              <a:t>Transformer 03 was overloaded as before </a:t>
            </a:r>
          </a:p>
          <a:p>
            <a:pPr marL="342900" indent="-342900">
              <a:buFont typeface="Wingdings" panose="05000000000000000000" pitchFamily="2" charset="2"/>
              <a:buChar char="q"/>
            </a:pPr>
            <a:r>
              <a:rPr lang="en-US" sz="2800" dirty="0"/>
              <a:t>Line Overloading was only at L22,L07,L18,L09, two line’s problem was solved</a:t>
            </a:r>
          </a:p>
        </p:txBody>
      </p:sp>
      <p:sp>
        <p:nvSpPr>
          <p:cNvPr id="8" name="TextBox 7">
            <a:extLst>
              <a:ext uri="{FF2B5EF4-FFF2-40B4-BE49-F238E27FC236}">
                <a16:creationId xmlns:a16="http://schemas.microsoft.com/office/drawing/2014/main" id="{88A3697E-6B3B-4422-BD4F-DE4EE494FCD1}"/>
              </a:ext>
            </a:extLst>
          </p:cNvPr>
          <p:cNvSpPr txBox="1"/>
          <p:nvPr/>
        </p:nvSpPr>
        <p:spPr>
          <a:xfrm>
            <a:off x="1996440" y="355600"/>
            <a:ext cx="9291320" cy="1200329"/>
          </a:xfrm>
          <a:prstGeom prst="rect">
            <a:avLst/>
          </a:prstGeom>
          <a:noFill/>
        </p:spPr>
        <p:txBody>
          <a:bodyPr wrap="square" rtlCol="0">
            <a:spAutoFit/>
          </a:bodyPr>
          <a:lstStyle/>
          <a:p>
            <a:r>
              <a:rPr lang="en-US" sz="2400" dirty="0"/>
              <a:t>To solve bus out of voltage limit , we have connected couple of shunt capacitor at different buses, instead of SVC, as shunt capacitor are cheaper than SVC </a:t>
            </a:r>
          </a:p>
        </p:txBody>
      </p:sp>
      <p:sp>
        <p:nvSpPr>
          <p:cNvPr id="9" name="Rectangle: Rounded Corners 8">
            <a:extLst>
              <a:ext uri="{FF2B5EF4-FFF2-40B4-BE49-F238E27FC236}">
                <a16:creationId xmlns:a16="http://schemas.microsoft.com/office/drawing/2014/main" id="{DE9036C3-D8EE-416A-AB1D-A5AB7191CE16}"/>
              </a:ext>
            </a:extLst>
          </p:cNvPr>
          <p:cNvSpPr/>
          <p:nvPr/>
        </p:nvSpPr>
        <p:spPr>
          <a:xfrm>
            <a:off x="231072" y="4110164"/>
            <a:ext cx="1765368" cy="728391"/>
          </a:xfrm>
          <a:prstGeom prst="roundRect">
            <a:avLst/>
          </a:prstGeom>
          <a:solidFill>
            <a:srgbClr val="F57B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D75A1A4-3399-4854-BDBA-04CD9813DEFE}"/>
              </a:ext>
            </a:extLst>
          </p:cNvPr>
          <p:cNvSpPr txBox="1"/>
          <p:nvPr/>
        </p:nvSpPr>
        <p:spPr>
          <a:xfrm>
            <a:off x="231071" y="4246431"/>
            <a:ext cx="1765369" cy="461665"/>
          </a:xfrm>
          <a:prstGeom prst="rect">
            <a:avLst/>
          </a:prstGeom>
          <a:noFill/>
        </p:spPr>
        <p:txBody>
          <a:bodyPr wrap="square" rtlCol="0">
            <a:spAutoFit/>
          </a:bodyPr>
          <a:lstStyle/>
          <a:p>
            <a:pPr algn="ctr"/>
            <a:r>
              <a:rPr lang="en-US" sz="2400" dirty="0"/>
              <a:t>Explanation</a:t>
            </a:r>
          </a:p>
        </p:txBody>
      </p:sp>
      <p:sp>
        <p:nvSpPr>
          <p:cNvPr id="11" name="TextBox 10">
            <a:extLst>
              <a:ext uri="{FF2B5EF4-FFF2-40B4-BE49-F238E27FC236}">
                <a16:creationId xmlns:a16="http://schemas.microsoft.com/office/drawing/2014/main" id="{FC3DA05C-585B-4633-8474-1930388EFA38}"/>
              </a:ext>
            </a:extLst>
          </p:cNvPr>
          <p:cNvSpPr txBox="1"/>
          <p:nvPr/>
        </p:nvSpPr>
        <p:spPr>
          <a:xfrm>
            <a:off x="2275840" y="4110164"/>
            <a:ext cx="7640320" cy="1569660"/>
          </a:xfrm>
          <a:prstGeom prst="rect">
            <a:avLst/>
          </a:prstGeom>
          <a:noFill/>
        </p:spPr>
        <p:txBody>
          <a:bodyPr wrap="square" rtlCol="0">
            <a:spAutoFit/>
          </a:bodyPr>
          <a:lstStyle/>
          <a:p>
            <a:pPr algn="just"/>
            <a:r>
              <a:rPr lang="en-US" sz="2400" dirty="0"/>
              <a:t>Some buses were out of voltage limits. There voltage (</a:t>
            </a:r>
            <a:r>
              <a:rPr lang="en-US" sz="2400" dirty="0" err="1"/>
              <a:t>pu</a:t>
            </a:r>
            <a:r>
              <a:rPr lang="en-US" sz="2400" dirty="0"/>
              <a:t>) was less than minimum. So , shunt capacitor was connected at different buses. Reactive power will increase bus voltage. Thus, all bus voltage will stay in their corresponding limits.</a:t>
            </a:r>
          </a:p>
        </p:txBody>
      </p:sp>
    </p:spTree>
    <p:extLst>
      <p:ext uri="{BB962C8B-B14F-4D97-AF65-F5344CB8AC3E}">
        <p14:creationId xmlns:p14="http://schemas.microsoft.com/office/powerpoint/2010/main" val="41283164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D1BA38C7-5F97-40AF-87D1-2DA3B39814AE}"/>
              </a:ext>
            </a:extLst>
          </p:cNvPr>
          <p:cNvSpPr/>
          <p:nvPr/>
        </p:nvSpPr>
        <p:spPr>
          <a:xfrm>
            <a:off x="252" y="0"/>
            <a:ext cx="2432229" cy="1092151"/>
          </a:xfrm>
          <a:prstGeom prst="roundRect">
            <a:avLst/>
          </a:prstGeom>
          <a:solidFill>
            <a:srgbClr val="F57B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03B7DCC-B183-4C91-B504-7865825F61E4}"/>
              </a:ext>
            </a:extLst>
          </p:cNvPr>
          <p:cNvSpPr txBox="1"/>
          <p:nvPr/>
        </p:nvSpPr>
        <p:spPr>
          <a:xfrm>
            <a:off x="252" y="136267"/>
            <a:ext cx="2263554" cy="830997"/>
          </a:xfrm>
          <a:prstGeom prst="rect">
            <a:avLst/>
          </a:prstGeom>
          <a:noFill/>
        </p:spPr>
        <p:txBody>
          <a:bodyPr wrap="square" rtlCol="0">
            <a:spAutoFit/>
          </a:bodyPr>
          <a:lstStyle/>
          <a:p>
            <a:pPr algn="ctr"/>
            <a:r>
              <a:rPr lang="en-US" sz="2400" dirty="0">
                <a:latin typeface="Berlin Sans FB" panose="020E0602020502020306" pitchFamily="34" charset="0"/>
              </a:rPr>
              <a:t>Mathematical Reasoning</a:t>
            </a:r>
          </a:p>
        </p:txBody>
      </p:sp>
      <p:sp>
        <p:nvSpPr>
          <p:cNvPr id="4" name="TextBox 3">
            <a:extLst>
              <a:ext uri="{FF2B5EF4-FFF2-40B4-BE49-F238E27FC236}">
                <a16:creationId xmlns:a16="http://schemas.microsoft.com/office/drawing/2014/main" id="{22366D27-5931-411E-AD0C-6A37D9E6E52F}"/>
              </a:ext>
            </a:extLst>
          </p:cNvPr>
          <p:cNvSpPr txBox="1"/>
          <p:nvPr/>
        </p:nvSpPr>
        <p:spPr>
          <a:xfrm>
            <a:off x="346229" y="1103531"/>
            <a:ext cx="8575829" cy="2308324"/>
          </a:xfrm>
          <a:prstGeom prst="rect">
            <a:avLst/>
          </a:prstGeom>
          <a:noFill/>
        </p:spPr>
        <p:txBody>
          <a:bodyPr wrap="square" rtlCol="0">
            <a:spAutoFit/>
          </a:bodyPr>
          <a:lstStyle/>
          <a:p>
            <a:r>
              <a:rPr lang="en-US" b="1" u="sng" dirty="0"/>
              <a:t>1</a:t>
            </a:r>
            <a:r>
              <a:rPr lang="en-US" b="1" u="sng" baseline="30000" dirty="0"/>
              <a:t>st</a:t>
            </a:r>
            <a:r>
              <a:rPr lang="en-US" b="1" u="sng" dirty="0"/>
              <a:t> Shunt Capacitor at B11</a:t>
            </a:r>
          </a:p>
          <a:p>
            <a:r>
              <a:rPr lang="en-US" dirty="0"/>
              <a:t>Our 1</a:t>
            </a:r>
            <a:r>
              <a:rPr lang="en-US" baseline="30000" dirty="0"/>
              <a:t>st</a:t>
            </a:r>
            <a:r>
              <a:rPr lang="en-US" dirty="0"/>
              <a:t> problem was at B11.</a:t>
            </a:r>
          </a:p>
          <a:p>
            <a:r>
              <a:rPr lang="en-US" dirty="0"/>
              <a:t>Bus 11 was connected with L12,L16 and T01. </a:t>
            </a:r>
          </a:p>
          <a:p>
            <a:endParaRPr lang="en-US" dirty="0"/>
          </a:p>
          <a:p>
            <a:r>
              <a:rPr lang="en-US" dirty="0"/>
              <a:t>The sum of reactive power of all three things are  =L12 + L16  + T01</a:t>
            </a:r>
          </a:p>
          <a:p>
            <a:r>
              <a:rPr lang="en-US" dirty="0"/>
              <a:t>					 = -218+247+35</a:t>
            </a:r>
          </a:p>
          <a:p>
            <a:r>
              <a:rPr lang="en-US" dirty="0"/>
              <a:t>					 = 64MVar</a:t>
            </a:r>
          </a:p>
          <a:p>
            <a:r>
              <a:rPr lang="en-US" dirty="0"/>
              <a:t>So, rating of Shunt capacitor at B11 was 70Mvar.</a:t>
            </a:r>
          </a:p>
        </p:txBody>
      </p:sp>
      <p:pic>
        <p:nvPicPr>
          <p:cNvPr id="5" name="Picture 4">
            <a:extLst>
              <a:ext uri="{FF2B5EF4-FFF2-40B4-BE49-F238E27FC236}">
                <a16:creationId xmlns:a16="http://schemas.microsoft.com/office/drawing/2014/main" id="{08E0A248-1956-4A5F-A3C1-6A5C66525613}"/>
              </a:ext>
            </a:extLst>
          </p:cNvPr>
          <p:cNvPicPr>
            <a:picLocks noChangeAspect="1"/>
          </p:cNvPicPr>
          <p:nvPr/>
        </p:nvPicPr>
        <p:blipFill rotWithShape="1">
          <a:blip r:embed="rId2"/>
          <a:srcRect r="55063"/>
          <a:stretch/>
        </p:blipFill>
        <p:spPr>
          <a:xfrm>
            <a:off x="7775313" y="1092151"/>
            <a:ext cx="4070458" cy="30384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TextBox 5">
            <a:extLst>
              <a:ext uri="{FF2B5EF4-FFF2-40B4-BE49-F238E27FC236}">
                <a16:creationId xmlns:a16="http://schemas.microsoft.com/office/drawing/2014/main" id="{AE4FDE47-B060-413B-8137-7DDFC9DEAFB7}"/>
              </a:ext>
            </a:extLst>
          </p:cNvPr>
          <p:cNvSpPr txBox="1"/>
          <p:nvPr/>
        </p:nvSpPr>
        <p:spPr>
          <a:xfrm>
            <a:off x="437703" y="4130626"/>
            <a:ext cx="8859915" cy="1754326"/>
          </a:xfrm>
          <a:prstGeom prst="rect">
            <a:avLst/>
          </a:prstGeom>
          <a:noFill/>
        </p:spPr>
        <p:txBody>
          <a:bodyPr wrap="square" rtlCol="0">
            <a:spAutoFit/>
          </a:bodyPr>
          <a:lstStyle/>
          <a:p>
            <a:r>
              <a:rPr lang="en-US" b="1" u="sng" dirty="0"/>
              <a:t>2</a:t>
            </a:r>
            <a:r>
              <a:rPr lang="en-US" b="1" u="sng" baseline="30000" dirty="0"/>
              <a:t>nd</a:t>
            </a:r>
            <a:r>
              <a:rPr lang="en-US" b="1" u="sng" dirty="0"/>
              <a:t> Shunt Capacitor at B12</a:t>
            </a:r>
          </a:p>
          <a:p>
            <a:r>
              <a:rPr lang="en-US" dirty="0"/>
              <a:t>Here, reactive power at Bus 12 is 88MVar</a:t>
            </a:r>
          </a:p>
          <a:p>
            <a:r>
              <a:rPr lang="en-US" dirty="0"/>
              <a:t>So, a shunt capacitor rating of 90MVar was connected at B12</a:t>
            </a:r>
          </a:p>
          <a:p>
            <a:endParaRPr lang="en-US" dirty="0"/>
          </a:p>
          <a:p>
            <a:r>
              <a:rPr lang="en-US" dirty="0"/>
              <a:t>Thus problem of voltage limit was solved at B11 and B12</a:t>
            </a:r>
          </a:p>
          <a:p>
            <a:endParaRPr lang="en-US" dirty="0"/>
          </a:p>
        </p:txBody>
      </p:sp>
      <p:sp>
        <p:nvSpPr>
          <p:cNvPr id="7" name="Rectangle 6">
            <a:extLst>
              <a:ext uri="{FF2B5EF4-FFF2-40B4-BE49-F238E27FC236}">
                <a16:creationId xmlns:a16="http://schemas.microsoft.com/office/drawing/2014/main" id="{677C3C16-6083-43CD-965F-ABE078AE13A7}"/>
              </a:ext>
            </a:extLst>
          </p:cNvPr>
          <p:cNvSpPr/>
          <p:nvPr/>
        </p:nvSpPr>
        <p:spPr>
          <a:xfrm>
            <a:off x="9297618" y="1886673"/>
            <a:ext cx="888104" cy="38196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65530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7283AC5B-CCBE-4EB8-A923-13828B587C6E}"/>
              </a:ext>
            </a:extLst>
          </p:cNvPr>
          <p:cNvSpPr/>
          <p:nvPr/>
        </p:nvSpPr>
        <p:spPr>
          <a:xfrm>
            <a:off x="252" y="0"/>
            <a:ext cx="2432229" cy="1092151"/>
          </a:xfrm>
          <a:prstGeom prst="roundRect">
            <a:avLst/>
          </a:prstGeom>
          <a:solidFill>
            <a:srgbClr val="F57B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F4D6FDC-B7C2-4549-AD4B-E5EBB0E1F891}"/>
              </a:ext>
            </a:extLst>
          </p:cNvPr>
          <p:cNvSpPr txBox="1"/>
          <p:nvPr/>
        </p:nvSpPr>
        <p:spPr>
          <a:xfrm>
            <a:off x="252" y="136267"/>
            <a:ext cx="2263554" cy="830997"/>
          </a:xfrm>
          <a:prstGeom prst="rect">
            <a:avLst/>
          </a:prstGeom>
          <a:noFill/>
        </p:spPr>
        <p:txBody>
          <a:bodyPr wrap="square" rtlCol="0">
            <a:spAutoFit/>
          </a:bodyPr>
          <a:lstStyle/>
          <a:p>
            <a:pPr algn="ctr"/>
            <a:r>
              <a:rPr lang="en-US" sz="2400" dirty="0">
                <a:latin typeface="Berlin Sans FB" panose="020E0602020502020306" pitchFamily="34" charset="0"/>
              </a:rPr>
              <a:t>Mathematical Reasoning</a:t>
            </a:r>
          </a:p>
        </p:txBody>
      </p:sp>
      <p:sp>
        <p:nvSpPr>
          <p:cNvPr id="4" name="TextBox 3">
            <a:extLst>
              <a:ext uri="{FF2B5EF4-FFF2-40B4-BE49-F238E27FC236}">
                <a16:creationId xmlns:a16="http://schemas.microsoft.com/office/drawing/2014/main" id="{A0ACF44F-E0EE-4002-A666-E086D197AE55}"/>
              </a:ext>
            </a:extLst>
          </p:cNvPr>
          <p:cNvSpPr txBox="1"/>
          <p:nvPr/>
        </p:nvSpPr>
        <p:spPr>
          <a:xfrm>
            <a:off x="204186" y="1228418"/>
            <a:ext cx="8859915" cy="1200329"/>
          </a:xfrm>
          <a:prstGeom prst="rect">
            <a:avLst/>
          </a:prstGeom>
          <a:noFill/>
        </p:spPr>
        <p:txBody>
          <a:bodyPr wrap="square" rtlCol="0">
            <a:spAutoFit/>
          </a:bodyPr>
          <a:lstStyle/>
          <a:p>
            <a:r>
              <a:rPr lang="en-US" b="1" u="sng" dirty="0"/>
              <a:t>3</a:t>
            </a:r>
            <a:r>
              <a:rPr lang="en-US" b="1" u="sng" baseline="30000" dirty="0"/>
              <a:t>rd</a:t>
            </a:r>
            <a:r>
              <a:rPr lang="en-US" b="1" u="sng" dirty="0"/>
              <a:t> Shunt Capacitor at B04</a:t>
            </a:r>
          </a:p>
          <a:p>
            <a:r>
              <a:rPr lang="en-US" dirty="0"/>
              <a:t>Here, reactive power at Bus 04 is 184MVar</a:t>
            </a:r>
          </a:p>
          <a:p>
            <a:r>
              <a:rPr lang="en-US" dirty="0"/>
              <a:t>So, a shunt capacitor rating of 184 </a:t>
            </a:r>
            <a:r>
              <a:rPr lang="en-US" dirty="0" err="1"/>
              <a:t>MVar</a:t>
            </a:r>
            <a:r>
              <a:rPr lang="en-US" dirty="0"/>
              <a:t> was connected at B04</a:t>
            </a:r>
          </a:p>
          <a:p>
            <a:r>
              <a:rPr lang="en-US" dirty="0"/>
              <a:t>B04 problem was solved</a:t>
            </a:r>
          </a:p>
        </p:txBody>
      </p:sp>
      <p:pic>
        <p:nvPicPr>
          <p:cNvPr id="5" name="Picture 4">
            <a:extLst>
              <a:ext uri="{FF2B5EF4-FFF2-40B4-BE49-F238E27FC236}">
                <a16:creationId xmlns:a16="http://schemas.microsoft.com/office/drawing/2014/main" id="{D93A3048-8A6B-4D25-B7EE-E9DB3D5981EA}"/>
              </a:ext>
            </a:extLst>
          </p:cNvPr>
          <p:cNvPicPr>
            <a:picLocks noChangeAspect="1"/>
          </p:cNvPicPr>
          <p:nvPr/>
        </p:nvPicPr>
        <p:blipFill>
          <a:blip r:embed="rId2"/>
          <a:stretch>
            <a:fillRect/>
          </a:stretch>
        </p:blipFill>
        <p:spPr>
          <a:xfrm>
            <a:off x="7751176" y="1092151"/>
            <a:ext cx="3933825" cy="22002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TextBox 5">
            <a:extLst>
              <a:ext uri="{FF2B5EF4-FFF2-40B4-BE49-F238E27FC236}">
                <a16:creationId xmlns:a16="http://schemas.microsoft.com/office/drawing/2014/main" id="{0AE0EA44-675D-42B9-80C6-545CB2C1ED09}"/>
              </a:ext>
            </a:extLst>
          </p:cNvPr>
          <p:cNvSpPr txBox="1"/>
          <p:nvPr/>
        </p:nvSpPr>
        <p:spPr>
          <a:xfrm>
            <a:off x="204186" y="3428693"/>
            <a:ext cx="8859915" cy="1754326"/>
          </a:xfrm>
          <a:prstGeom prst="rect">
            <a:avLst/>
          </a:prstGeom>
          <a:noFill/>
        </p:spPr>
        <p:txBody>
          <a:bodyPr wrap="square" rtlCol="0">
            <a:spAutoFit/>
          </a:bodyPr>
          <a:lstStyle/>
          <a:p>
            <a:r>
              <a:rPr lang="en-US" b="1" u="sng" dirty="0"/>
              <a:t>4</a:t>
            </a:r>
            <a:r>
              <a:rPr lang="en-US" b="1" u="sng" baseline="30000" dirty="0"/>
              <a:t>th</a:t>
            </a:r>
            <a:r>
              <a:rPr lang="en-US" b="1" u="sng" dirty="0"/>
              <a:t> Shunt Capacitor at B09</a:t>
            </a:r>
          </a:p>
          <a:p>
            <a:r>
              <a:rPr lang="en-US" dirty="0"/>
              <a:t>Finally we have connected a large shunt capacitor at B09 to compensate all other remaining buses.</a:t>
            </a:r>
          </a:p>
          <a:p>
            <a:r>
              <a:rPr lang="en-US" dirty="0"/>
              <a:t>The rating of shunt capacitor is 260MVar.</a:t>
            </a:r>
          </a:p>
          <a:p>
            <a:endParaRPr lang="en-US" dirty="0"/>
          </a:p>
          <a:p>
            <a:r>
              <a:rPr lang="en-US" dirty="0"/>
              <a:t>After this no other buses were out of their voltage limits</a:t>
            </a:r>
          </a:p>
        </p:txBody>
      </p:sp>
    </p:spTree>
    <p:extLst>
      <p:ext uri="{BB962C8B-B14F-4D97-AF65-F5344CB8AC3E}">
        <p14:creationId xmlns:p14="http://schemas.microsoft.com/office/powerpoint/2010/main" val="2376042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CC81942-58C7-4BF6-B9F6-F4C92778862C}"/>
              </a:ext>
            </a:extLst>
          </p:cNvPr>
          <p:cNvPicPr>
            <a:picLocks noChangeAspect="1"/>
          </p:cNvPicPr>
          <p:nvPr/>
        </p:nvPicPr>
        <p:blipFill>
          <a:blip r:embed="rId2"/>
          <a:stretch>
            <a:fillRect/>
          </a:stretch>
        </p:blipFill>
        <p:spPr>
          <a:xfrm>
            <a:off x="0" y="0"/>
            <a:ext cx="7118430" cy="6858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Picture 2">
            <a:extLst>
              <a:ext uri="{FF2B5EF4-FFF2-40B4-BE49-F238E27FC236}">
                <a16:creationId xmlns:a16="http://schemas.microsoft.com/office/drawing/2014/main" id="{30F26647-0A00-459D-A66E-AED63B8F437A}"/>
              </a:ext>
            </a:extLst>
          </p:cNvPr>
          <p:cNvPicPr>
            <a:picLocks noChangeAspect="1"/>
          </p:cNvPicPr>
          <p:nvPr/>
        </p:nvPicPr>
        <p:blipFill>
          <a:blip r:embed="rId3"/>
          <a:stretch>
            <a:fillRect/>
          </a:stretch>
        </p:blipFill>
        <p:spPr>
          <a:xfrm>
            <a:off x="5073570" y="0"/>
            <a:ext cx="7118430" cy="6858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Rectangle 3">
            <a:extLst>
              <a:ext uri="{FF2B5EF4-FFF2-40B4-BE49-F238E27FC236}">
                <a16:creationId xmlns:a16="http://schemas.microsoft.com/office/drawing/2014/main" id="{C3D21892-2822-468B-ADC5-514733D3D102}"/>
              </a:ext>
            </a:extLst>
          </p:cNvPr>
          <p:cNvSpPr/>
          <p:nvPr/>
        </p:nvSpPr>
        <p:spPr>
          <a:xfrm>
            <a:off x="381964" y="393539"/>
            <a:ext cx="3171463" cy="416689"/>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026866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66DF669-50AD-4D2E-91D6-38541291E3DD}"/>
              </a:ext>
            </a:extLst>
          </p:cNvPr>
          <p:cNvSpPr/>
          <p:nvPr/>
        </p:nvSpPr>
        <p:spPr>
          <a:xfrm>
            <a:off x="406400" y="955774"/>
            <a:ext cx="1341120" cy="523240"/>
          </a:xfrm>
          <a:prstGeom prst="roundRect">
            <a:avLst/>
          </a:prstGeom>
          <a:solidFill>
            <a:srgbClr val="F57B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1F6B594-980D-40D2-AA0D-0F5802DA4FEB}"/>
              </a:ext>
            </a:extLst>
          </p:cNvPr>
          <p:cNvSpPr txBox="1"/>
          <p:nvPr/>
        </p:nvSpPr>
        <p:spPr>
          <a:xfrm>
            <a:off x="492760" y="1017349"/>
            <a:ext cx="1366520" cy="461665"/>
          </a:xfrm>
          <a:prstGeom prst="rect">
            <a:avLst/>
          </a:prstGeom>
          <a:noFill/>
        </p:spPr>
        <p:txBody>
          <a:bodyPr wrap="square" rtlCol="0">
            <a:spAutoFit/>
          </a:bodyPr>
          <a:lstStyle/>
          <a:p>
            <a:r>
              <a:rPr lang="en-US" sz="2400" dirty="0"/>
              <a:t>Step 05:</a:t>
            </a:r>
          </a:p>
        </p:txBody>
      </p:sp>
      <p:sp>
        <p:nvSpPr>
          <p:cNvPr id="5" name="Rectangle: Rounded Corners 4">
            <a:extLst>
              <a:ext uri="{FF2B5EF4-FFF2-40B4-BE49-F238E27FC236}">
                <a16:creationId xmlns:a16="http://schemas.microsoft.com/office/drawing/2014/main" id="{3554E3D6-ACDF-4706-A058-6DD2051ED564}"/>
              </a:ext>
            </a:extLst>
          </p:cNvPr>
          <p:cNvSpPr/>
          <p:nvPr/>
        </p:nvSpPr>
        <p:spPr>
          <a:xfrm>
            <a:off x="350520" y="2557939"/>
            <a:ext cx="1397000" cy="769461"/>
          </a:xfrm>
          <a:prstGeom prst="roundRect">
            <a:avLst/>
          </a:prstGeom>
          <a:solidFill>
            <a:srgbClr val="F57B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F93C833-6D9D-4D69-B4A6-BDEBC3D1C796}"/>
              </a:ext>
            </a:extLst>
          </p:cNvPr>
          <p:cNvSpPr txBox="1"/>
          <p:nvPr/>
        </p:nvSpPr>
        <p:spPr>
          <a:xfrm>
            <a:off x="350520" y="2602766"/>
            <a:ext cx="1341120" cy="707886"/>
          </a:xfrm>
          <a:prstGeom prst="rect">
            <a:avLst/>
          </a:prstGeom>
          <a:noFill/>
        </p:spPr>
        <p:txBody>
          <a:bodyPr wrap="square" rtlCol="0">
            <a:spAutoFit/>
          </a:bodyPr>
          <a:lstStyle/>
          <a:p>
            <a:pPr algn="ctr"/>
            <a:r>
              <a:rPr lang="en-US" sz="2000" dirty="0"/>
              <a:t>Simulation result</a:t>
            </a:r>
          </a:p>
        </p:txBody>
      </p:sp>
      <p:sp>
        <p:nvSpPr>
          <p:cNvPr id="7" name="TextBox 6">
            <a:extLst>
              <a:ext uri="{FF2B5EF4-FFF2-40B4-BE49-F238E27FC236}">
                <a16:creationId xmlns:a16="http://schemas.microsoft.com/office/drawing/2014/main" id="{7057CE80-815B-46AD-824A-BED67FF799F2}"/>
              </a:ext>
            </a:extLst>
          </p:cNvPr>
          <p:cNvSpPr txBox="1"/>
          <p:nvPr/>
        </p:nvSpPr>
        <p:spPr>
          <a:xfrm>
            <a:off x="1859280" y="2557939"/>
            <a:ext cx="9072880" cy="954107"/>
          </a:xfrm>
          <a:prstGeom prst="rect">
            <a:avLst/>
          </a:prstGeom>
          <a:noFill/>
        </p:spPr>
        <p:txBody>
          <a:bodyPr wrap="square" rtlCol="0">
            <a:spAutoFit/>
          </a:bodyPr>
          <a:lstStyle/>
          <a:p>
            <a:pPr marL="342900" indent="-342900">
              <a:buFont typeface="Wingdings" panose="05000000000000000000" pitchFamily="2" charset="2"/>
              <a:buChar char="q"/>
            </a:pPr>
            <a:r>
              <a:rPr lang="en-US" sz="2800" dirty="0"/>
              <a:t>No Transformer  overloading problem was occurred</a:t>
            </a:r>
          </a:p>
          <a:p>
            <a:pPr marL="342900" indent="-342900">
              <a:buFont typeface="Wingdings" panose="05000000000000000000" pitchFamily="2" charset="2"/>
              <a:buChar char="q"/>
            </a:pPr>
            <a:r>
              <a:rPr lang="en-US" sz="2800" dirty="0"/>
              <a:t>Line Overloading remains same L22, L07, L09</a:t>
            </a:r>
          </a:p>
        </p:txBody>
      </p:sp>
      <p:sp>
        <p:nvSpPr>
          <p:cNvPr id="8" name="TextBox 7">
            <a:extLst>
              <a:ext uri="{FF2B5EF4-FFF2-40B4-BE49-F238E27FC236}">
                <a16:creationId xmlns:a16="http://schemas.microsoft.com/office/drawing/2014/main" id="{88A3697E-6B3B-4422-BD4F-DE4EE494FCD1}"/>
              </a:ext>
            </a:extLst>
          </p:cNvPr>
          <p:cNvSpPr txBox="1"/>
          <p:nvPr/>
        </p:nvSpPr>
        <p:spPr>
          <a:xfrm>
            <a:off x="2052320" y="965200"/>
            <a:ext cx="8696960" cy="830997"/>
          </a:xfrm>
          <a:prstGeom prst="rect">
            <a:avLst/>
          </a:prstGeom>
          <a:noFill/>
        </p:spPr>
        <p:txBody>
          <a:bodyPr wrap="square" rtlCol="0">
            <a:spAutoFit/>
          </a:bodyPr>
          <a:lstStyle/>
          <a:p>
            <a:r>
              <a:rPr lang="en-US" sz="2400" dirty="0"/>
              <a:t>To solve the transformer overloading problem, active generation of G01, G03, G10 was increased by 50MW.</a:t>
            </a:r>
          </a:p>
        </p:txBody>
      </p:sp>
      <p:sp>
        <p:nvSpPr>
          <p:cNvPr id="9" name="Rectangle: Rounded Corners 8">
            <a:extLst>
              <a:ext uri="{FF2B5EF4-FFF2-40B4-BE49-F238E27FC236}">
                <a16:creationId xmlns:a16="http://schemas.microsoft.com/office/drawing/2014/main" id="{43818FB9-E018-40E0-A777-D9B417345E0E}"/>
              </a:ext>
            </a:extLst>
          </p:cNvPr>
          <p:cNvSpPr/>
          <p:nvPr/>
        </p:nvSpPr>
        <p:spPr>
          <a:xfrm>
            <a:off x="93912" y="4089142"/>
            <a:ext cx="1765368" cy="728391"/>
          </a:xfrm>
          <a:prstGeom prst="roundRect">
            <a:avLst/>
          </a:prstGeom>
          <a:solidFill>
            <a:srgbClr val="F57B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147F2EDD-8E72-45FC-A8F1-AC365F83DDEA}"/>
              </a:ext>
            </a:extLst>
          </p:cNvPr>
          <p:cNvSpPr txBox="1"/>
          <p:nvPr/>
        </p:nvSpPr>
        <p:spPr>
          <a:xfrm>
            <a:off x="93911" y="4225409"/>
            <a:ext cx="1765369" cy="461665"/>
          </a:xfrm>
          <a:prstGeom prst="rect">
            <a:avLst/>
          </a:prstGeom>
          <a:noFill/>
        </p:spPr>
        <p:txBody>
          <a:bodyPr wrap="square" rtlCol="0">
            <a:spAutoFit/>
          </a:bodyPr>
          <a:lstStyle/>
          <a:p>
            <a:pPr algn="ctr"/>
            <a:r>
              <a:rPr lang="en-US" sz="2400" dirty="0"/>
              <a:t>Explanation</a:t>
            </a:r>
          </a:p>
        </p:txBody>
      </p:sp>
      <p:sp>
        <p:nvSpPr>
          <p:cNvPr id="11" name="TextBox 10">
            <a:extLst>
              <a:ext uri="{FF2B5EF4-FFF2-40B4-BE49-F238E27FC236}">
                <a16:creationId xmlns:a16="http://schemas.microsoft.com/office/drawing/2014/main" id="{68E2091A-61F9-4346-B715-77DBF32FCA11}"/>
              </a:ext>
            </a:extLst>
          </p:cNvPr>
          <p:cNvSpPr txBox="1"/>
          <p:nvPr/>
        </p:nvSpPr>
        <p:spPr>
          <a:xfrm>
            <a:off x="2052320" y="4086909"/>
            <a:ext cx="8128000" cy="1569660"/>
          </a:xfrm>
          <a:prstGeom prst="rect">
            <a:avLst/>
          </a:prstGeom>
          <a:noFill/>
        </p:spPr>
        <p:txBody>
          <a:bodyPr wrap="square" rtlCol="0">
            <a:spAutoFit/>
          </a:bodyPr>
          <a:lstStyle/>
          <a:p>
            <a:r>
              <a:rPr lang="en-US" sz="2400" dirty="0"/>
              <a:t>T03 was connected between B31 and B06. Again, B31 is slack bus. Again, B06 is very closed to B31. So, high power is flowing through T03. To solve this, we have to increase the generation of some other generator, to release pressure of swing generator</a:t>
            </a:r>
          </a:p>
        </p:txBody>
      </p:sp>
    </p:spTree>
    <p:extLst>
      <p:ext uri="{BB962C8B-B14F-4D97-AF65-F5344CB8AC3E}">
        <p14:creationId xmlns:p14="http://schemas.microsoft.com/office/powerpoint/2010/main" val="29917590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A7CC3C8-510E-4F3E-BD1D-E32F8E912CB8}"/>
              </a:ext>
            </a:extLst>
          </p:cNvPr>
          <p:cNvPicPr>
            <a:picLocks noChangeAspect="1"/>
          </p:cNvPicPr>
          <p:nvPr/>
        </p:nvPicPr>
        <p:blipFill>
          <a:blip r:embed="rId2"/>
          <a:stretch>
            <a:fillRect/>
          </a:stretch>
        </p:blipFill>
        <p:spPr>
          <a:xfrm>
            <a:off x="0" y="0"/>
            <a:ext cx="6944810" cy="6858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Picture 2">
            <a:extLst>
              <a:ext uri="{FF2B5EF4-FFF2-40B4-BE49-F238E27FC236}">
                <a16:creationId xmlns:a16="http://schemas.microsoft.com/office/drawing/2014/main" id="{8D3B9CAE-49D5-4061-9F08-F1B21FE7D12D}"/>
              </a:ext>
            </a:extLst>
          </p:cNvPr>
          <p:cNvPicPr>
            <a:picLocks noChangeAspect="1"/>
          </p:cNvPicPr>
          <p:nvPr/>
        </p:nvPicPr>
        <p:blipFill>
          <a:blip r:embed="rId3"/>
          <a:stretch>
            <a:fillRect/>
          </a:stretch>
        </p:blipFill>
        <p:spPr>
          <a:xfrm>
            <a:off x="5393802" y="0"/>
            <a:ext cx="6798197" cy="685799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1194095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66DF669-50AD-4D2E-91D6-38541291E3DD}"/>
              </a:ext>
            </a:extLst>
          </p:cNvPr>
          <p:cNvSpPr/>
          <p:nvPr/>
        </p:nvSpPr>
        <p:spPr>
          <a:xfrm>
            <a:off x="406400" y="955774"/>
            <a:ext cx="1341120" cy="523240"/>
          </a:xfrm>
          <a:prstGeom prst="roundRect">
            <a:avLst/>
          </a:prstGeom>
          <a:solidFill>
            <a:srgbClr val="F57B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1F6B594-980D-40D2-AA0D-0F5802DA4FEB}"/>
              </a:ext>
            </a:extLst>
          </p:cNvPr>
          <p:cNvSpPr txBox="1"/>
          <p:nvPr/>
        </p:nvSpPr>
        <p:spPr>
          <a:xfrm>
            <a:off x="492760" y="1017349"/>
            <a:ext cx="1366520" cy="461665"/>
          </a:xfrm>
          <a:prstGeom prst="rect">
            <a:avLst/>
          </a:prstGeom>
          <a:noFill/>
        </p:spPr>
        <p:txBody>
          <a:bodyPr wrap="square" rtlCol="0">
            <a:spAutoFit/>
          </a:bodyPr>
          <a:lstStyle/>
          <a:p>
            <a:r>
              <a:rPr lang="en-US" sz="2400" dirty="0"/>
              <a:t>Step 06:</a:t>
            </a:r>
          </a:p>
        </p:txBody>
      </p:sp>
      <p:sp>
        <p:nvSpPr>
          <p:cNvPr id="5" name="Rectangle: Rounded Corners 4">
            <a:extLst>
              <a:ext uri="{FF2B5EF4-FFF2-40B4-BE49-F238E27FC236}">
                <a16:creationId xmlns:a16="http://schemas.microsoft.com/office/drawing/2014/main" id="{3554E3D6-ACDF-4706-A058-6DD2051ED564}"/>
              </a:ext>
            </a:extLst>
          </p:cNvPr>
          <p:cNvSpPr/>
          <p:nvPr/>
        </p:nvSpPr>
        <p:spPr>
          <a:xfrm>
            <a:off x="350520" y="2557939"/>
            <a:ext cx="1397000" cy="769461"/>
          </a:xfrm>
          <a:prstGeom prst="roundRect">
            <a:avLst/>
          </a:prstGeom>
          <a:solidFill>
            <a:srgbClr val="F57B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F93C833-6D9D-4D69-B4A6-BDEBC3D1C796}"/>
              </a:ext>
            </a:extLst>
          </p:cNvPr>
          <p:cNvSpPr txBox="1"/>
          <p:nvPr/>
        </p:nvSpPr>
        <p:spPr>
          <a:xfrm>
            <a:off x="350520" y="2602766"/>
            <a:ext cx="1341120" cy="707886"/>
          </a:xfrm>
          <a:prstGeom prst="rect">
            <a:avLst/>
          </a:prstGeom>
          <a:noFill/>
        </p:spPr>
        <p:txBody>
          <a:bodyPr wrap="square" rtlCol="0">
            <a:spAutoFit/>
          </a:bodyPr>
          <a:lstStyle/>
          <a:p>
            <a:pPr algn="ctr"/>
            <a:r>
              <a:rPr lang="en-US" sz="2000" dirty="0"/>
              <a:t>Simulation result</a:t>
            </a:r>
          </a:p>
        </p:txBody>
      </p:sp>
      <p:sp>
        <p:nvSpPr>
          <p:cNvPr id="8" name="TextBox 7">
            <a:extLst>
              <a:ext uri="{FF2B5EF4-FFF2-40B4-BE49-F238E27FC236}">
                <a16:creationId xmlns:a16="http://schemas.microsoft.com/office/drawing/2014/main" id="{88A3697E-6B3B-4422-BD4F-DE4EE494FCD1}"/>
              </a:ext>
            </a:extLst>
          </p:cNvPr>
          <p:cNvSpPr txBox="1"/>
          <p:nvPr/>
        </p:nvSpPr>
        <p:spPr>
          <a:xfrm>
            <a:off x="2052320" y="965200"/>
            <a:ext cx="8696960" cy="830997"/>
          </a:xfrm>
          <a:prstGeom prst="rect">
            <a:avLst/>
          </a:prstGeom>
          <a:noFill/>
        </p:spPr>
        <p:txBody>
          <a:bodyPr wrap="square" rtlCol="0">
            <a:spAutoFit/>
          </a:bodyPr>
          <a:lstStyle/>
          <a:p>
            <a:r>
              <a:rPr lang="en-US" sz="2400" dirty="0"/>
              <a:t>To solve L22 ,L07 L09 overloading problem we have increased the loading limit of L22 to 1800, L07 at 1200, L09 at 1200</a:t>
            </a:r>
          </a:p>
        </p:txBody>
      </p:sp>
      <p:sp>
        <p:nvSpPr>
          <p:cNvPr id="9" name="TextBox 8">
            <a:extLst>
              <a:ext uri="{FF2B5EF4-FFF2-40B4-BE49-F238E27FC236}">
                <a16:creationId xmlns:a16="http://schemas.microsoft.com/office/drawing/2014/main" id="{0E188F01-8171-445E-AC3C-F8AF8198FD2D}"/>
              </a:ext>
            </a:extLst>
          </p:cNvPr>
          <p:cNvSpPr txBox="1"/>
          <p:nvPr/>
        </p:nvSpPr>
        <p:spPr>
          <a:xfrm>
            <a:off x="1864360" y="2419459"/>
            <a:ext cx="9072880" cy="1815882"/>
          </a:xfrm>
          <a:prstGeom prst="rect">
            <a:avLst/>
          </a:prstGeom>
          <a:noFill/>
        </p:spPr>
        <p:txBody>
          <a:bodyPr wrap="square" rtlCol="0">
            <a:spAutoFit/>
          </a:bodyPr>
          <a:lstStyle/>
          <a:p>
            <a:pPr marL="342900" indent="-342900">
              <a:buFont typeface="Wingdings" panose="05000000000000000000" pitchFamily="2" charset="2"/>
              <a:buChar char="q"/>
            </a:pPr>
            <a:r>
              <a:rPr lang="en-US" sz="2800" dirty="0"/>
              <a:t>After this step, only line underloading and transformer underloading was remained</a:t>
            </a:r>
          </a:p>
          <a:p>
            <a:pPr marL="342900" indent="-342900">
              <a:buFont typeface="Wingdings" panose="05000000000000000000" pitchFamily="2" charset="2"/>
              <a:buChar char="q"/>
            </a:pPr>
            <a:r>
              <a:rPr lang="en-US" sz="2800" dirty="0"/>
              <a:t>By decreasing the loading limit of line , under loading problem of line was also solved</a:t>
            </a:r>
          </a:p>
        </p:txBody>
      </p:sp>
    </p:spTree>
    <p:extLst>
      <p:ext uri="{BB962C8B-B14F-4D97-AF65-F5344CB8AC3E}">
        <p14:creationId xmlns:p14="http://schemas.microsoft.com/office/powerpoint/2010/main" val="6286254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66ACACF-0859-4D76-878C-202BECF6590F}"/>
              </a:ext>
            </a:extLst>
          </p:cNvPr>
          <p:cNvPicPr>
            <a:picLocks noChangeAspect="1"/>
          </p:cNvPicPr>
          <p:nvPr/>
        </p:nvPicPr>
        <p:blipFill>
          <a:blip r:embed="rId2"/>
          <a:stretch>
            <a:fillRect/>
          </a:stretch>
        </p:blipFill>
        <p:spPr>
          <a:xfrm>
            <a:off x="0" y="0"/>
            <a:ext cx="8380071" cy="6858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Picture 2">
            <a:extLst>
              <a:ext uri="{FF2B5EF4-FFF2-40B4-BE49-F238E27FC236}">
                <a16:creationId xmlns:a16="http://schemas.microsoft.com/office/drawing/2014/main" id="{33C92D65-5280-4DBF-9F47-0D8CCD3CD66C}"/>
              </a:ext>
            </a:extLst>
          </p:cNvPr>
          <p:cNvPicPr>
            <a:picLocks noChangeAspect="1"/>
          </p:cNvPicPr>
          <p:nvPr/>
        </p:nvPicPr>
        <p:blipFill>
          <a:blip r:embed="rId3"/>
          <a:stretch>
            <a:fillRect/>
          </a:stretch>
        </p:blipFill>
        <p:spPr>
          <a:xfrm>
            <a:off x="5208609" y="49192"/>
            <a:ext cx="6983392" cy="6858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Rectangle 3">
            <a:extLst>
              <a:ext uri="{FF2B5EF4-FFF2-40B4-BE49-F238E27FC236}">
                <a16:creationId xmlns:a16="http://schemas.microsoft.com/office/drawing/2014/main" id="{9FB8D4ED-64D9-4326-A880-C2742DAC9F25}"/>
              </a:ext>
            </a:extLst>
          </p:cNvPr>
          <p:cNvSpPr/>
          <p:nvPr/>
        </p:nvSpPr>
        <p:spPr>
          <a:xfrm>
            <a:off x="497712" y="1759351"/>
            <a:ext cx="3171463" cy="416689"/>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50F47E2-8EAB-406B-B98A-45A11EF68A5D}"/>
              </a:ext>
            </a:extLst>
          </p:cNvPr>
          <p:cNvSpPr/>
          <p:nvPr/>
        </p:nvSpPr>
        <p:spPr>
          <a:xfrm>
            <a:off x="381964" y="393539"/>
            <a:ext cx="3171463" cy="416689"/>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713F24E-0F8D-4324-AE4C-99C053BFB281}"/>
              </a:ext>
            </a:extLst>
          </p:cNvPr>
          <p:cNvSpPr/>
          <p:nvPr/>
        </p:nvSpPr>
        <p:spPr>
          <a:xfrm>
            <a:off x="5208609" y="231492"/>
            <a:ext cx="3171463" cy="416689"/>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62C553D-D009-4E17-A7F1-0461867AE60F}"/>
              </a:ext>
            </a:extLst>
          </p:cNvPr>
          <p:cNvSpPr/>
          <p:nvPr/>
        </p:nvSpPr>
        <p:spPr>
          <a:xfrm>
            <a:off x="5303134" y="4689676"/>
            <a:ext cx="3171463" cy="416689"/>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708859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5391914-F8ED-41B3-98E2-FEE828251CA0}"/>
              </a:ext>
            </a:extLst>
          </p:cNvPr>
          <p:cNvPicPr>
            <a:picLocks noChangeAspect="1"/>
          </p:cNvPicPr>
          <p:nvPr/>
        </p:nvPicPr>
        <p:blipFill>
          <a:blip r:embed="rId2"/>
          <a:stretch>
            <a:fillRect/>
          </a:stretch>
        </p:blipFill>
        <p:spPr>
          <a:xfrm>
            <a:off x="1369128" y="306669"/>
            <a:ext cx="9218815" cy="624466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2065418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19C88629-3CC2-47F3-BCEE-68C0F9D5340D}"/>
              </a:ext>
            </a:extLst>
          </p:cNvPr>
          <p:cNvSpPr/>
          <p:nvPr/>
        </p:nvSpPr>
        <p:spPr>
          <a:xfrm>
            <a:off x="4626745" y="567291"/>
            <a:ext cx="2485747" cy="730983"/>
          </a:xfrm>
          <a:prstGeom prst="roundRect">
            <a:avLst/>
          </a:prstGeom>
          <a:solidFill>
            <a:srgbClr val="F57B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302F8B2-EF10-4167-A63A-23F08710644F}"/>
              </a:ext>
            </a:extLst>
          </p:cNvPr>
          <p:cNvSpPr txBox="1"/>
          <p:nvPr/>
        </p:nvSpPr>
        <p:spPr>
          <a:xfrm>
            <a:off x="4768788" y="671172"/>
            <a:ext cx="2654423" cy="523220"/>
          </a:xfrm>
          <a:prstGeom prst="rect">
            <a:avLst/>
          </a:prstGeom>
          <a:noFill/>
        </p:spPr>
        <p:txBody>
          <a:bodyPr wrap="square" rtlCol="0">
            <a:spAutoFit/>
          </a:bodyPr>
          <a:lstStyle/>
          <a:p>
            <a:r>
              <a:rPr lang="en-US" sz="2800" b="1" dirty="0"/>
              <a:t>Contributions</a:t>
            </a:r>
          </a:p>
        </p:txBody>
      </p:sp>
      <p:sp>
        <p:nvSpPr>
          <p:cNvPr id="6" name="TextBox 5">
            <a:extLst>
              <a:ext uri="{FF2B5EF4-FFF2-40B4-BE49-F238E27FC236}">
                <a16:creationId xmlns:a16="http://schemas.microsoft.com/office/drawing/2014/main" id="{2FCE6EF8-70AD-4FCE-9A93-AAD516ED7691}"/>
              </a:ext>
            </a:extLst>
          </p:cNvPr>
          <p:cNvSpPr txBox="1"/>
          <p:nvPr/>
        </p:nvSpPr>
        <p:spPr>
          <a:xfrm>
            <a:off x="1439662" y="2087549"/>
            <a:ext cx="9312676" cy="2062103"/>
          </a:xfrm>
          <a:prstGeom prst="rect">
            <a:avLst/>
          </a:prstGeom>
          <a:noFill/>
        </p:spPr>
        <p:txBody>
          <a:bodyPr wrap="square" rtlCol="0">
            <a:spAutoFit/>
          </a:bodyPr>
          <a:lstStyle/>
          <a:p>
            <a:r>
              <a:rPr lang="en-US" sz="3200" b="1" u="sng" dirty="0"/>
              <a:t>1706150 , 1706152</a:t>
            </a:r>
            <a:r>
              <a:rPr lang="en-US" sz="3200" dirty="0"/>
              <a:t>: Data entry &amp; cross-checking</a:t>
            </a:r>
          </a:p>
          <a:p>
            <a:endParaRPr lang="en-US" sz="3200" dirty="0"/>
          </a:p>
          <a:p>
            <a:r>
              <a:rPr lang="en-US" sz="3200" b="1" u="sng" dirty="0"/>
              <a:t>1706149 , 1706189</a:t>
            </a:r>
            <a:r>
              <a:rPr lang="en-US" sz="3200" u="sng" dirty="0"/>
              <a:t>: </a:t>
            </a:r>
            <a:r>
              <a:rPr lang="en-US" sz="3200" dirty="0"/>
              <a:t>Placing corrective devices and problems solving and making presentation slide.</a:t>
            </a:r>
          </a:p>
        </p:txBody>
      </p:sp>
    </p:spTree>
    <p:extLst>
      <p:ext uri="{BB962C8B-B14F-4D97-AF65-F5344CB8AC3E}">
        <p14:creationId xmlns:p14="http://schemas.microsoft.com/office/powerpoint/2010/main" val="5739616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Power System Advisory">
            <a:extLst>
              <a:ext uri="{FF2B5EF4-FFF2-40B4-BE49-F238E27FC236}">
                <a16:creationId xmlns:a16="http://schemas.microsoft.com/office/drawing/2014/main" id="{20330F8D-CF2D-411C-B97B-31F240783C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37" y="-142876"/>
            <a:ext cx="12215674" cy="716343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E5CCDAD-DA68-4D27-AA22-F654EAD10148}"/>
              </a:ext>
            </a:extLst>
          </p:cNvPr>
          <p:cNvSpPr txBox="1"/>
          <p:nvPr/>
        </p:nvSpPr>
        <p:spPr>
          <a:xfrm>
            <a:off x="1851949" y="983848"/>
            <a:ext cx="9086127" cy="3483980"/>
          </a:xfrm>
          <a:prstGeom prst="rect">
            <a:avLst/>
          </a:prstGeom>
          <a:gradFill>
            <a:gsLst>
              <a:gs pos="0">
                <a:schemeClr val="bg1">
                  <a:lumMod val="65000"/>
                  <a:alpha val="25000"/>
                </a:schemeClr>
              </a:gs>
              <a:gs pos="100000">
                <a:schemeClr val="bg1">
                  <a:lumMod val="95000"/>
                  <a:alpha val="73000"/>
                </a:schemeClr>
              </a:gs>
            </a:gsLst>
            <a:lin ang="5400000" scaled="1"/>
          </a:gradFill>
        </p:spPr>
        <p:txBody>
          <a:bodyPr wrap="square" rtlCol="0">
            <a:spAutoFit/>
          </a:bodyPr>
          <a:lstStyle/>
          <a:p>
            <a:endParaRPr lang="en-US" dirty="0"/>
          </a:p>
        </p:txBody>
      </p:sp>
      <p:sp>
        <p:nvSpPr>
          <p:cNvPr id="4" name="TextBox 3">
            <a:extLst>
              <a:ext uri="{FF2B5EF4-FFF2-40B4-BE49-F238E27FC236}">
                <a16:creationId xmlns:a16="http://schemas.microsoft.com/office/drawing/2014/main" id="{F1A0B985-4912-4173-95CA-7D5FE1F7D44D}"/>
              </a:ext>
            </a:extLst>
          </p:cNvPr>
          <p:cNvSpPr txBox="1"/>
          <p:nvPr/>
        </p:nvSpPr>
        <p:spPr>
          <a:xfrm>
            <a:off x="2228125" y="1251928"/>
            <a:ext cx="8518967" cy="2646878"/>
          </a:xfrm>
          <a:prstGeom prst="rect">
            <a:avLst/>
          </a:prstGeom>
          <a:noFill/>
        </p:spPr>
        <p:txBody>
          <a:bodyPr wrap="square" rtlCol="0">
            <a:spAutoFit/>
          </a:bodyPr>
          <a:lstStyle/>
          <a:p>
            <a:r>
              <a:rPr lang="en-US" sz="16600" b="1" dirty="0">
                <a:ln w="38100">
                  <a:solidFill>
                    <a:srgbClr val="FF0000"/>
                  </a:solidFill>
                </a:ln>
                <a:solidFill>
                  <a:srgbClr val="FFFF00"/>
                </a:solidFill>
                <a:latin typeface="Barlow Condensed ExtraBold" panose="00000906000000000000" pitchFamily="2" charset="0"/>
              </a:rPr>
              <a:t>Thank You</a:t>
            </a:r>
          </a:p>
        </p:txBody>
      </p:sp>
    </p:spTree>
    <p:extLst>
      <p:ext uri="{BB962C8B-B14F-4D97-AF65-F5344CB8AC3E}">
        <p14:creationId xmlns:p14="http://schemas.microsoft.com/office/powerpoint/2010/main" val="35667766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647</TotalTime>
  <Words>756</Words>
  <Application>Microsoft Office PowerPoint</Application>
  <PresentationFormat>Widescreen</PresentationFormat>
  <Paragraphs>90</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Barlow Condensed ExtraBold</vt:lpstr>
      <vt:lpstr>Berlin Sans FB</vt:lpstr>
      <vt:lpstr>Calibri</vt:lpstr>
      <vt:lpstr>Calibri Light</vt:lpstr>
      <vt:lpstr>Wingdings</vt:lpstr>
      <vt:lpstr>Office Theme</vt:lpstr>
      <vt:lpstr>Project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Presentation</dc:title>
  <dc:creator>Sanath Kumar Das 1706149</dc:creator>
  <cp:lastModifiedBy>1706149 - Sanath Kumar Das</cp:lastModifiedBy>
  <cp:revision>45</cp:revision>
  <dcterms:created xsi:type="dcterms:W3CDTF">2021-07-23T03:44:45Z</dcterms:created>
  <dcterms:modified xsi:type="dcterms:W3CDTF">2021-07-24T06:35:57Z</dcterms:modified>
</cp:coreProperties>
</file>